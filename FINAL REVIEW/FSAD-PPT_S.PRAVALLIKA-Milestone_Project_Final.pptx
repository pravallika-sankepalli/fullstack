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6" r:id="rId11"/>
    <p:sldId id="269" r:id="rId12"/>
    <p:sldId id="267" r:id="rId13"/>
    <p:sldId id="268" r:id="rId14"/>
    <p:sldId id="271" r:id="rId15"/>
    <p:sldId id="270" r:id="rId16"/>
    <p:sldId id="265" r:id="rId17"/>
  </p:sldIdLst>
  <p:sldSz cx="18288000" cy="10287000"/>
  <p:notesSz cx="6858000" cy="9144000"/>
  <p:embeddedFontLst>
    <p:embeddedFont>
      <p:font typeface="Cambria" panose="02040503050406030204" pitchFamily="18" charset="0"/>
      <p:regular r:id="rId18"/>
      <p:bold r:id="rId19"/>
      <p:italic r:id="rId20"/>
      <p:boldItalic r:id="rId21"/>
    </p:embeddedFont>
    <p:embeddedFont>
      <p:font typeface="Gotham" panose="020B0604020202020204" charset="0"/>
      <p:regular r:id="rId22"/>
    </p:embeddedFont>
    <p:embeddedFont>
      <p:font typeface="Gotham Bold Italics" panose="020B0604020202020204" charset="0"/>
      <p:regular r:id="rId23"/>
      <p:bold r:id="rId24"/>
      <p:italic r:id="rId25"/>
      <p:boldItalic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p:scale>
          <a:sx n="66" d="100"/>
          <a:sy n="66" d="100"/>
        </p:scale>
        <p:origin x="38" y="-581"/>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8.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sv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svg"/><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0" name="Group 10"/>
          <p:cNvGrpSpPr/>
          <p:nvPr/>
        </p:nvGrpSpPr>
        <p:grpSpPr>
          <a:xfrm>
            <a:off x="11762088" y="-9632634"/>
            <a:ext cx="10994424" cy="10994424"/>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12" name="TextBox 12"/>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9965724" y="-1383136"/>
            <a:ext cx="10994424" cy="10994424"/>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21" name="TextBox 21"/>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pic>
        <p:nvPicPr>
          <p:cNvPr id="23" name="Picture 22">
            <a:extLst>
              <a:ext uri="{FF2B5EF4-FFF2-40B4-BE49-F238E27FC236}">
                <a16:creationId xmlns:a16="http://schemas.microsoft.com/office/drawing/2014/main" id="{1194AAA3-5CF4-E695-04C9-0894FFF6F1F1}"/>
              </a:ext>
            </a:extLst>
          </p:cNvPr>
          <p:cNvPicPr>
            <a:picLocks noChangeAspect="1"/>
          </p:cNvPicPr>
          <p:nvPr/>
        </p:nvPicPr>
        <p:blipFill>
          <a:blip r:embed="rId2"/>
          <a:stretch>
            <a:fillRect/>
          </a:stretch>
        </p:blipFill>
        <p:spPr>
          <a:xfrm>
            <a:off x="6610443" y="196689"/>
            <a:ext cx="4752247" cy="1360611"/>
          </a:xfrm>
          <a:prstGeom prst="rect">
            <a:avLst/>
          </a:prstGeom>
        </p:spPr>
      </p:pic>
      <p:sp>
        <p:nvSpPr>
          <p:cNvPr id="24" name="TextBox 23">
            <a:extLst>
              <a:ext uri="{FF2B5EF4-FFF2-40B4-BE49-F238E27FC236}">
                <a16:creationId xmlns:a16="http://schemas.microsoft.com/office/drawing/2014/main" id="{BB0EB85C-D9CE-08DC-1131-77C9DD1A002D}"/>
              </a:ext>
            </a:extLst>
          </p:cNvPr>
          <p:cNvSpPr txBox="1"/>
          <p:nvPr/>
        </p:nvSpPr>
        <p:spPr>
          <a:xfrm>
            <a:off x="1360002" y="1608482"/>
            <a:ext cx="15925800" cy="1631216"/>
          </a:xfrm>
          <a:prstGeom prst="rect">
            <a:avLst/>
          </a:prstGeom>
          <a:noFill/>
        </p:spPr>
        <p:txBody>
          <a:bodyPr wrap="square" rtlCol="0">
            <a:spAutoFit/>
          </a:bodyPr>
          <a:lstStyle/>
          <a:p>
            <a:pPr algn="ctr"/>
            <a:r>
              <a:rPr lang="en-US" sz="3200" b="1" dirty="0">
                <a:latin typeface="Times New Roman" panose="02020603050405020304" pitchFamily="18" charset="0"/>
                <a:ea typeface="Cambria" panose="02040503050406030204" pitchFamily="18" charset="0"/>
                <a:cs typeface="Times New Roman" panose="02020603050405020304" pitchFamily="18" charset="0"/>
              </a:rPr>
              <a:t>Vel Tech Rangarajan Dr. Sagunthala R&amp;D Institute of Science and Technology</a:t>
            </a:r>
          </a:p>
          <a:p>
            <a:pPr algn="ctr"/>
            <a:r>
              <a:rPr lang="en-US" sz="3600" b="1" dirty="0">
                <a:latin typeface="Times New Roman" panose="02020603050405020304" pitchFamily="18" charset="0"/>
                <a:ea typeface="Cambria" panose="02040503050406030204" pitchFamily="18" charset="0"/>
                <a:cs typeface="Times New Roman" panose="02020603050405020304" pitchFamily="18" charset="0"/>
              </a:rPr>
              <a:t>School of Computing </a:t>
            </a:r>
          </a:p>
          <a:p>
            <a:pPr algn="ctr"/>
            <a:r>
              <a:rPr lang="en-US" sz="3200" b="1" dirty="0">
                <a:latin typeface="Times New Roman" panose="02020603050405020304" pitchFamily="18" charset="0"/>
                <a:ea typeface="Cambria" panose="02040503050406030204" pitchFamily="18" charset="0"/>
                <a:cs typeface="Times New Roman" panose="02020603050405020304" pitchFamily="18" charset="0"/>
              </a:rPr>
              <a:t>Department of Computer Science and Engineering</a:t>
            </a:r>
            <a:endParaRPr lang="en-IN" sz="3200" b="1" dirty="0">
              <a:latin typeface="Times New Roman" panose="02020603050405020304" pitchFamily="18" charset="0"/>
              <a:ea typeface="Cambria" panose="02040503050406030204" pitchFamily="18" charset="0"/>
              <a:cs typeface="Times New Roman" panose="02020603050405020304" pitchFamily="18" charset="0"/>
            </a:endParaRPr>
          </a:p>
        </p:txBody>
      </p:sp>
      <p:sp>
        <p:nvSpPr>
          <p:cNvPr id="26" name="TextBox 25">
            <a:extLst>
              <a:ext uri="{FF2B5EF4-FFF2-40B4-BE49-F238E27FC236}">
                <a16:creationId xmlns:a16="http://schemas.microsoft.com/office/drawing/2014/main" id="{55785AF5-58C8-2624-E1FD-4723B0683DE6}"/>
              </a:ext>
            </a:extLst>
          </p:cNvPr>
          <p:cNvSpPr txBox="1"/>
          <p:nvPr/>
        </p:nvSpPr>
        <p:spPr>
          <a:xfrm>
            <a:off x="1692835" y="3272357"/>
            <a:ext cx="15260135" cy="523220"/>
          </a:xfrm>
          <a:prstGeom prst="rect">
            <a:avLst/>
          </a:prstGeom>
          <a:noFill/>
        </p:spPr>
        <p:txBody>
          <a:bodyPr wrap="square">
            <a:spAutoFit/>
          </a:bodyPr>
          <a:lstStyle/>
          <a:p>
            <a:pPr algn="ctr"/>
            <a:r>
              <a:rPr lang="en-US" sz="2800" b="1" dirty="0">
                <a:solidFill>
                  <a:srgbClr val="0033CC"/>
                </a:solidFill>
                <a:latin typeface="Times New Roman" panose="02020603050405020304" pitchFamily="18" charset="0"/>
                <a:cs typeface="Times New Roman" panose="02020603050405020304" pitchFamily="18" charset="0"/>
              </a:rPr>
              <a:t>10211CS224 / FULL STACK APPLICATION DEVELOPMENT</a:t>
            </a:r>
            <a:endParaRPr lang="en-IN" sz="2800" b="1" dirty="0">
              <a:solidFill>
                <a:srgbClr val="0033CC"/>
              </a:solidFill>
              <a:latin typeface="Times New Roman" panose="02020603050405020304" pitchFamily="18" charset="0"/>
              <a:cs typeface="Times New Roman" panose="02020603050405020304" pitchFamily="18" charset="0"/>
            </a:endParaRPr>
          </a:p>
        </p:txBody>
      </p:sp>
      <p:sp>
        <p:nvSpPr>
          <p:cNvPr id="27" name="TextBox 26">
            <a:extLst>
              <a:ext uri="{FF2B5EF4-FFF2-40B4-BE49-F238E27FC236}">
                <a16:creationId xmlns:a16="http://schemas.microsoft.com/office/drawing/2014/main" id="{AC6C53BF-3850-6683-E07F-D595EC8B02B2}"/>
              </a:ext>
            </a:extLst>
          </p:cNvPr>
          <p:cNvSpPr txBox="1"/>
          <p:nvPr/>
        </p:nvSpPr>
        <p:spPr>
          <a:xfrm>
            <a:off x="3727757" y="3897940"/>
            <a:ext cx="11190289" cy="1754326"/>
          </a:xfrm>
          <a:prstGeom prst="rect">
            <a:avLst/>
          </a:prstGeom>
          <a:noFill/>
        </p:spPr>
        <p:txBody>
          <a:bodyPr wrap="square" rtlCol="0">
            <a:spAutoFit/>
          </a:bodyPr>
          <a:lstStyle/>
          <a:p>
            <a:pPr algn="ctr"/>
            <a:r>
              <a:rPr lang="en-IN" sz="3600" b="1" dirty="0">
                <a:solidFill>
                  <a:srgbClr val="C00000"/>
                </a:solidFill>
                <a:latin typeface="Times New Roman" panose="02020603050405020304" pitchFamily="18" charset="0"/>
                <a:cs typeface="Times New Roman" panose="02020603050405020304" pitchFamily="18" charset="0"/>
              </a:rPr>
              <a:t>END SEMESTER PROJECT REVIEW</a:t>
            </a:r>
          </a:p>
          <a:p>
            <a:pPr algn="ctr"/>
            <a:endParaRPr lang="en-IN" sz="3600" b="1" dirty="0">
              <a:solidFill>
                <a:srgbClr val="C00000"/>
              </a:solidFill>
              <a:latin typeface="Arial" panose="020B0604020202020204" pitchFamily="34" charset="0"/>
              <a:cs typeface="Arial" panose="020B0604020202020204" pitchFamily="34" charset="0"/>
            </a:endParaRPr>
          </a:p>
          <a:p>
            <a:pPr algn="ctr"/>
            <a:endParaRPr lang="en-IN" sz="3600" b="1" dirty="0">
              <a:solidFill>
                <a:srgbClr val="C00000"/>
              </a:solidFill>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7FFE0DA2-4723-7C13-5FD7-FC99B0394DDD}"/>
              </a:ext>
            </a:extLst>
          </p:cNvPr>
          <p:cNvSpPr txBox="1"/>
          <p:nvPr/>
        </p:nvSpPr>
        <p:spPr>
          <a:xfrm>
            <a:off x="1475138" y="4828143"/>
            <a:ext cx="15784162" cy="1077218"/>
          </a:xfrm>
          <a:prstGeom prst="rect">
            <a:avLst/>
          </a:prstGeom>
          <a:noFill/>
        </p:spPr>
        <p:txBody>
          <a:bodyPr wrap="square" rtlCol="0">
            <a:spAutoFit/>
          </a:bodyPr>
          <a:lstStyle/>
          <a:p>
            <a:pPr algn="ctr"/>
            <a:r>
              <a:rPr lang="en-US" sz="3200" b="1" dirty="0">
                <a:solidFill>
                  <a:srgbClr val="0033CC"/>
                </a:solidFill>
                <a:latin typeface="Times New Roman" panose="02020603050405020304" pitchFamily="18" charset="0"/>
                <a:cs typeface="Times New Roman" panose="02020603050405020304" pitchFamily="18" charset="0"/>
              </a:rPr>
              <a:t>DEPARTMENT  EVENT  TICKET  BOOKING  SYSTEM </a:t>
            </a:r>
          </a:p>
          <a:p>
            <a:pPr algn="ctr"/>
            <a:r>
              <a:rPr lang="en-US" sz="3200" b="1" dirty="0">
                <a:solidFill>
                  <a:srgbClr val="C00000"/>
                </a:solidFill>
                <a:latin typeface="Times New Roman" panose="02020603050405020304" pitchFamily="18" charset="0"/>
                <a:cs typeface="Times New Roman" panose="02020603050405020304" pitchFamily="18" charset="0"/>
              </a:rPr>
              <a:t>06/05/2026</a:t>
            </a:r>
            <a:endParaRPr lang="en-IN" sz="3200" b="1" dirty="0">
              <a:solidFill>
                <a:srgbClr val="C00000"/>
              </a:solidFill>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EA8EEF4A-EB43-B7D9-87FC-7C7D752BCA78}"/>
              </a:ext>
            </a:extLst>
          </p:cNvPr>
          <p:cNvSpPr txBox="1"/>
          <p:nvPr/>
        </p:nvSpPr>
        <p:spPr>
          <a:xfrm>
            <a:off x="893870" y="7800539"/>
            <a:ext cx="9067800" cy="1391663"/>
          </a:xfrm>
          <a:prstGeom prst="rect">
            <a:avLst/>
          </a:prstGeom>
          <a:noFill/>
        </p:spPr>
        <p:txBody>
          <a:bodyPr wrap="square" rtlCol="0">
            <a:spAutoFit/>
          </a:bodyPr>
          <a:lstStyle/>
          <a:p>
            <a:pPr>
              <a:lnSpc>
                <a:spcPct val="150000"/>
              </a:lnSpc>
            </a:pPr>
            <a:r>
              <a:rPr lang="en-US" sz="3000" b="1" dirty="0">
                <a:latin typeface="Times New Roman" panose="02020603050405020304" pitchFamily="18" charset="0"/>
                <a:ea typeface="Cambria" panose="02040503050406030204" pitchFamily="18" charset="0"/>
                <a:cs typeface="Times New Roman" panose="02020603050405020304" pitchFamily="18" charset="0"/>
              </a:rPr>
              <a:t>Presented</a:t>
            </a:r>
            <a:r>
              <a:rPr lang="en-US" sz="3000" b="1" dirty="0">
                <a:latin typeface="Cambria" panose="02040503050406030204" pitchFamily="18" charset="0"/>
                <a:ea typeface="Cambria" panose="02040503050406030204" pitchFamily="18" charset="0"/>
              </a:rPr>
              <a:t> By:</a:t>
            </a:r>
          </a:p>
          <a:p>
            <a:pPr>
              <a:lnSpc>
                <a:spcPct val="150000"/>
              </a:lnSpc>
            </a:pPr>
            <a:r>
              <a:rPr lang="en-US" sz="3000" dirty="0">
                <a:latin typeface="Cambria" panose="02040503050406030204" pitchFamily="18" charset="0"/>
                <a:ea typeface="Cambria" panose="02040503050406030204" pitchFamily="18" charset="0"/>
              </a:rPr>
              <a:t>S.PRAVALLIKA – VTU25243 – 23UECS0510</a:t>
            </a:r>
            <a:endParaRPr lang="en-IN" sz="3000" dirty="0">
              <a:latin typeface="Cambria" panose="02040503050406030204" pitchFamily="18" charset="0"/>
              <a:ea typeface="Cambria" panose="02040503050406030204" pitchFamily="18" charset="0"/>
            </a:endParaRPr>
          </a:p>
        </p:txBody>
      </p:sp>
      <p:sp>
        <p:nvSpPr>
          <p:cNvPr id="15" name="TextBox 14">
            <a:extLst>
              <a:ext uri="{FF2B5EF4-FFF2-40B4-BE49-F238E27FC236}">
                <a16:creationId xmlns:a16="http://schemas.microsoft.com/office/drawing/2014/main" id="{6FF32D1A-2F9C-AC53-CCBD-ABF748DF236F}"/>
              </a:ext>
            </a:extLst>
          </p:cNvPr>
          <p:cNvSpPr txBox="1"/>
          <p:nvPr/>
        </p:nvSpPr>
        <p:spPr>
          <a:xfrm>
            <a:off x="11506200" y="7818586"/>
            <a:ext cx="6705600" cy="2776658"/>
          </a:xfrm>
          <a:prstGeom prst="rect">
            <a:avLst/>
          </a:prstGeom>
          <a:noFill/>
        </p:spPr>
        <p:txBody>
          <a:bodyPr wrap="square" rtlCol="0">
            <a:spAutoFit/>
          </a:bodyPr>
          <a:lstStyle/>
          <a:p>
            <a:pPr>
              <a:lnSpc>
                <a:spcPct val="150000"/>
              </a:lnSpc>
            </a:pPr>
            <a:r>
              <a:rPr lang="en-US" sz="3000" b="1" dirty="0">
                <a:latin typeface="Times New Roman" panose="02020603050405020304" pitchFamily="18" charset="0"/>
                <a:ea typeface="Cambria" panose="02040503050406030204" pitchFamily="18" charset="0"/>
                <a:cs typeface="Times New Roman" panose="02020603050405020304" pitchFamily="18" charset="0"/>
              </a:rPr>
              <a:t>Courses Handling Faculty:</a:t>
            </a:r>
          </a:p>
          <a:p>
            <a:pPr>
              <a:lnSpc>
                <a:spcPct val="150000"/>
              </a:lnSpc>
            </a:pPr>
            <a:r>
              <a:rPr lang="en-US" sz="3000" dirty="0">
                <a:latin typeface="Cambria" panose="02040503050406030204" pitchFamily="18" charset="0"/>
                <a:ea typeface="Cambria" panose="02040503050406030204" pitchFamily="18" charset="0"/>
              </a:rPr>
              <a:t>Dr. S. Hemamalini, </a:t>
            </a:r>
            <a:r>
              <a:rPr lang="en-US" sz="3000" dirty="0" err="1">
                <a:latin typeface="Cambria" panose="02040503050406030204" pitchFamily="18" charset="0"/>
                <a:ea typeface="Cambria" panose="02040503050406030204" pitchFamily="18" charset="0"/>
              </a:rPr>
              <a:t>Assistant.Professor</a:t>
            </a:r>
            <a:endParaRPr lang="en-US" sz="3000" dirty="0">
              <a:latin typeface="Cambria" panose="02040503050406030204" pitchFamily="18" charset="0"/>
              <a:ea typeface="Cambria" panose="02040503050406030204" pitchFamily="18" charset="0"/>
            </a:endParaRPr>
          </a:p>
          <a:p>
            <a:pPr>
              <a:lnSpc>
                <a:spcPct val="150000"/>
              </a:lnSpc>
            </a:pPr>
            <a:r>
              <a:rPr lang="en-US" sz="3000" dirty="0">
                <a:latin typeface="Cambria" panose="02040503050406030204" pitchFamily="18" charset="0"/>
                <a:ea typeface="Cambria" panose="02040503050406030204" pitchFamily="18" charset="0"/>
              </a:rPr>
              <a:t>(Sr Grade)-</a:t>
            </a:r>
            <a:r>
              <a:rPr lang="en-US" sz="3000" dirty="0" err="1">
                <a:latin typeface="Cambria" panose="02040503050406030204" pitchFamily="18" charset="0"/>
                <a:ea typeface="Cambria" panose="02040503050406030204" pitchFamily="18" charset="0"/>
              </a:rPr>
              <a:t>M.E,ph.D</a:t>
            </a:r>
            <a:endParaRPr lang="en-IN" sz="3000" dirty="0">
              <a:latin typeface="Cambria" panose="02040503050406030204" pitchFamily="18" charset="0"/>
              <a:ea typeface="Cambria" panose="02040503050406030204" pitchFamily="18" charset="0"/>
            </a:endParaRPr>
          </a:p>
          <a:p>
            <a:pPr>
              <a:lnSpc>
                <a:spcPct val="150000"/>
              </a:lnSpc>
            </a:pPr>
            <a:endParaRPr lang="en-IN" sz="3000" dirty="0">
              <a:latin typeface="Cambria" panose="02040503050406030204" pitchFamily="18" charset="0"/>
              <a:ea typeface="Cambria" panose="02040503050406030204" pitchFamily="18" charset="0"/>
            </a:endParaRPr>
          </a:p>
        </p:txBody>
      </p:sp>
      <p:sp>
        <p:nvSpPr>
          <p:cNvPr id="16" name="TextBox 15">
            <a:extLst>
              <a:ext uri="{FF2B5EF4-FFF2-40B4-BE49-F238E27FC236}">
                <a16:creationId xmlns:a16="http://schemas.microsoft.com/office/drawing/2014/main" id="{A7AA51DE-E8D7-A1B4-BC0D-B25C8A0C467A}"/>
              </a:ext>
            </a:extLst>
          </p:cNvPr>
          <p:cNvSpPr txBox="1"/>
          <p:nvPr/>
        </p:nvSpPr>
        <p:spPr>
          <a:xfrm>
            <a:off x="2209800" y="6972300"/>
            <a:ext cx="14743170" cy="1015663"/>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SDG: 9 – Industry , Innovation and Infrastructure</a:t>
            </a:r>
          </a:p>
          <a:p>
            <a:r>
              <a:rPr lang="en-US" sz="2000" dirty="0">
                <a:latin typeface="Times New Roman" panose="02020603050405020304" pitchFamily="18" charset="0"/>
                <a:cs typeface="Times New Roman" panose="02020603050405020304" pitchFamily="18" charset="0"/>
              </a:rPr>
              <a:t>SDG: 12- Responsible Consumption and Production</a:t>
            </a:r>
            <a:endParaRPr lang="en-IN" sz="2000" b="1" dirty="0">
              <a:latin typeface="Times New Roman" panose="02020603050405020304" pitchFamily="18" charset="0"/>
              <a:ea typeface="Cambria" panose="02040503050406030204" pitchFamily="18" charset="0"/>
              <a:cs typeface="Times New Roman" panose="02020603050405020304" pitchFamily="18" charset="0"/>
            </a:endParaRPr>
          </a:p>
          <a:p>
            <a:endParaRPr lang="en-IN" sz="2000" b="1" dirty="0">
              <a:latin typeface="Times New Roman" panose="02020603050405020304" pitchFamily="18" charset="0"/>
              <a:ea typeface="Cambria" panose="020405030504060302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8" name="Freeform 8"/>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9" name="Group 9"/>
          <p:cNvGrpSpPr/>
          <p:nvPr/>
        </p:nvGrpSpPr>
        <p:grpSpPr>
          <a:xfrm>
            <a:off x="706082" y="1952203"/>
            <a:ext cx="992463" cy="99246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1</a:t>
              </a:r>
            </a:p>
          </p:txBody>
        </p:sp>
      </p:grpSp>
      <p:grpSp>
        <p:nvGrpSpPr>
          <p:cNvPr id="12" name="Group 12"/>
          <p:cNvGrpSpPr/>
          <p:nvPr/>
        </p:nvGrpSpPr>
        <p:grpSpPr>
          <a:xfrm>
            <a:off x="948235" y="4447339"/>
            <a:ext cx="508158" cy="543805"/>
            <a:chOff x="0" y="0"/>
            <a:chExt cx="812800" cy="869819"/>
          </a:xfrm>
        </p:grpSpPr>
        <p:sp>
          <p:nvSpPr>
            <p:cNvPr id="13" name="Freeform 1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4" name="TextBox 1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5" name="Group 15"/>
          <p:cNvGrpSpPr/>
          <p:nvPr/>
        </p:nvGrpSpPr>
        <p:grpSpPr>
          <a:xfrm>
            <a:off x="948235" y="3107362"/>
            <a:ext cx="508158" cy="543805"/>
            <a:chOff x="0" y="0"/>
            <a:chExt cx="812800" cy="869819"/>
          </a:xfrm>
        </p:grpSpPr>
        <p:sp>
          <p:nvSpPr>
            <p:cNvPr id="16" name="Freeform 1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7" name="TextBox 1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dirty="0">
                  <a:solidFill>
                    <a:srgbClr val="191919"/>
                  </a:solidFill>
                  <a:latin typeface="Gotham"/>
                  <a:ea typeface="Gotham"/>
                  <a:cs typeface="Gotham"/>
                  <a:sym typeface="Gotham"/>
                </a:rPr>
                <a:t>2</a:t>
              </a:r>
            </a:p>
          </p:txBody>
        </p:sp>
      </p:grpSp>
      <p:grpSp>
        <p:nvGrpSpPr>
          <p:cNvPr id="18" name="Group 18"/>
          <p:cNvGrpSpPr/>
          <p:nvPr/>
        </p:nvGrpSpPr>
        <p:grpSpPr>
          <a:xfrm>
            <a:off x="948235" y="5115753"/>
            <a:ext cx="508158" cy="543805"/>
            <a:chOff x="0" y="0"/>
            <a:chExt cx="812800" cy="869819"/>
          </a:xfrm>
        </p:grpSpPr>
        <p:sp>
          <p:nvSpPr>
            <p:cNvPr id="19" name="Freeform 1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0" name="TextBox 2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1" name="Group 21"/>
          <p:cNvGrpSpPr/>
          <p:nvPr/>
        </p:nvGrpSpPr>
        <p:grpSpPr>
          <a:xfrm>
            <a:off x="948235" y="3776486"/>
            <a:ext cx="508158" cy="543805"/>
            <a:chOff x="0" y="0"/>
            <a:chExt cx="812800" cy="869819"/>
          </a:xfrm>
        </p:grpSpPr>
        <p:sp>
          <p:nvSpPr>
            <p:cNvPr id="22" name="Freeform 2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3" name="TextBox 2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4" name="Group 24"/>
          <p:cNvGrpSpPr/>
          <p:nvPr/>
        </p:nvGrpSpPr>
        <p:grpSpPr>
          <a:xfrm>
            <a:off x="948235" y="6455730"/>
            <a:ext cx="508158" cy="543805"/>
            <a:chOff x="0" y="0"/>
            <a:chExt cx="812800" cy="869819"/>
          </a:xfrm>
        </p:grpSpPr>
        <p:sp>
          <p:nvSpPr>
            <p:cNvPr id="25" name="Freeform 2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6" name="TextBox 2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7" name="Group 27"/>
          <p:cNvGrpSpPr/>
          <p:nvPr/>
        </p:nvGrpSpPr>
        <p:grpSpPr>
          <a:xfrm>
            <a:off x="948235" y="5784877"/>
            <a:ext cx="508158" cy="543805"/>
            <a:chOff x="0" y="0"/>
            <a:chExt cx="812800" cy="869819"/>
          </a:xfrm>
        </p:grpSpPr>
        <p:sp>
          <p:nvSpPr>
            <p:cNvPr id="28" name="Freeform 2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9" name="TextBox 2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48235" y="7123361"/>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48235" y="7790991"/>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2" name="TextBox 1">
            <a:extLst>
              <a:ext uri="{FF2B5EF4-FFF2-40B4-BE49-F238E27FC236}">
                <a16:creationId xmlns:a16="http://schemas.microsoft.com/office/drawing/2014/main" id="{DE796552-E8BF-2718-F921-20F9BAE7EE98}"/>
              </a:ext>
            </a:extLst>
          </p:cNvPr>
          <p:cNvSpPr txBox="1"/>
          <p:nvPr/>
        </p:nvSpPr>
        <p:spPr>
          <a:xfrm>
            <a:off x="152400" y="342900"/>
            <a:ext cx="181356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INTRODUCTION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37E9E58-77B6-079D-9D0D-E380CADAD23D}"/>
              </a:ext>
            </a:extLst>
          </p:cNvPr>
          <p:cNvSpPr txBox="1"/>
          <p:nvPr/>
        </p:nvSpPr>
        <p:spPr>
          <a:xfrm>
            <a:off x="2401634" y="2353548"/>
            <a:ext cx="15082325" cy="4401205"/>
          </a:xfrm>
          <a:prstGeom prst="rect">
            <a:avLst/>
          </a:prstGeom>
          <a:noFill/>
        </p:spPr>
        <p:txBody>
          <a:bodyPr wrap="square" rtlCol="0">
            <a:spAutoFit/>
          </a:bodyPr>
          <a:lstStyle/>
          <a:p>
            <a:pPr marL="571500" indent="-571500">
              <a:buFont typeface="Wingdings" panose="05000000000000000000" pitchFamily="2" charset="2"/>
              <a:buChar char="q"/>
            </a:pPr>
            <a:r>
              <a:rPr lang="en-US" sz="2800" dirty="0">
                <a:latin typeface="Times New Roman" panose="02020603050405020304" pitchFamily="18" charset="0"/>
                <a:cs typeface="Times New Roman" panose="02020603050405020304" pitchFamily="18" charset="0"/>
              </a:rPr>
              <a:t>The management of campus events in many institutions is often handled manually, leading to issues such as poor coordination, ticket mismanagement, and lack of real-time updates. This creates inconvenience for both organizers and participants. Hence, there is a need for a centralized digital system to streamline event operations. The proposed project, EVENTS, addresses these challenges by providing an efficient platform for event creation, ticket booking, and management. It is important as it enhances user experience, reduces manual effort, and ensures accurate record maintenance. In real-world scenarios, such systems are widely used in universities, conferences, and large-scale events. </a:t>
            </a:r>
            <a:r>
              <a:rPr lang="en-US" sz="2800" dirty="0" err="1">
                <a:latin typeface="Times New Roman" panose="02020603050405020304" pitchFamily="18" charset="0"/>
                <a:cs typeface="Times New Roman" panose="02020603050405020304" pitchFamily="18" charset="0"/>
              </a:rPr>
              <a:t>EVENTis</a:t>
            </a:r>
            <a:r>
              <a:rPr lang="en-US" sz="2800" dirty="0">
                <a:latin typeface="Times New Roman" panose="02020603050405020304" pitchFamily="18" charset="0"/>
                <a:cs typeface="Times New Roman" panose="02020603050405020304" pitchFamily="18" charset="0"/>
              </a:rPr>
              <a:t> a dynamic web-based application that enables users to browse events, book tickets, and receive instant confirmations, while administrators can manage events and monitor bookings effectively.</a:t>
            </a:r>
            <a:endParaRPr lang="en-IN"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10"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11" name="Group 11"/>
          <p:cNvGrpSpPr/>
          <p:nvPr/>
        </p:nvGrpSpPr>
        <p:grpSpPr>
          <a:xfrm>
            <a:off x="709357" y="2648112"/>
            <a:ext cx="992463" cy="992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2</a:t>
              </a:r>
            </a:p>
          </p:txBody>
        </p:sp>
      </p:grpSp>
      <p:grpSp>
        <p:nvGrpSpPr>
          <p:cNvPr id="14" name="Group 14"/>
          <p:cNvGrpSpPr/>
          <p:nvPr/>
        </p:nvGrpSpPr>
        <p:grpSpPr>
          <a:xfrm>
            <a:off x="951509" y="4428296"/>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1982349"/>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0" name="Group 20"/>
          <p:cNvGrpSpPr/>
          <p:nvPr/>
        </p:nvGrpSpPr>
        <p:grpSpPr>
          <a:xfrm>
            <a:off x="951509" y="509405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3" name="Group 23"/>
          <p:cNvGrpSpPr/>
          <p:nvPr/>
        </p:nvGrpSpPr>
        <p:grpSpPr>
          <a:xfrm>
            <a:off x="951509" y="376253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6" name="Group 26"/>
          <p:cNvGrpSpPr/>
          <p:nvPr/>
        </p:nvGrpSpPr>
        <p:grpSpPr>
          <a:xfrm>
            <a:off x="951509" y="6425585"/>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p:cNvGrpSpPr/>
          <p:nvPr/>
        </p:nvGrpSpPr>
        <p:grpSpPr>
          <a:xfrm>
            <a:off x="951509" y="5759822"/>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51509" y="7093216"/>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51509" y="7760846"/>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7" name="TextBox 46">
            <a:extLst>
              <a:ext uri="{FF2B5EF4-FFF2-40B4-BE49-F238E27FC236}">
                <a16:creationId xmlns:a16="http://schemas.microsoft.com/office/drawing/2014/main" id="{A8A7B8E9-D90B-1CF8-14D3-8D2483CAFC5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PROBLEM STATEMENT</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BDE2941C-1504-53F9-99B2-48002CA9A345}"/>
              </a:ext>
            </a:extLst>
          </p:cNvPr>
          <p:cNvSpPr txBox="1"/>
          <p:nvPr/>
        </p:nvSpPr>
        <p:spPr>
          <a:xfrm>
            <a:off x="2256624" y="1945228"/>
            <a:ext cx="15082325" cy="3539430"/>
          </a:xfrm>
          <a:prstGeom prst="rect">
            <a:avLst/>
          </a:prstGeom>
          <a:noFill/>
        </p:spPr>
        <p:txBody>
          <a:bodyPr wrap="square" rtlCol="0">
            <a:spAutoFit/>
          </a:bodyPr>
          <a:lstStyle/>
          <a:p>
            <a:pPr marL="457200" indent="-457200">
              <a:buFont typeface="Wingdings" panose="05000000000000000000" pitchFamily="2" charset="2"/>
              <a:buChar char="q"/>
            </a:pPr>
            <a:r>
              <a:rPr lang="en-US" sz="2800" dirty="0">
                <a:latin typeface="Times New Roman" panose="02020603050405020304" pitchFamily="18" charset="0"/>
                <a:cs typeface="Times New Roman" panose="02020603050405020304" pitchFamily="18" charset="0"/>
              </a:rPr>
              <a:t>The management of campus events is often carried out using manual or semi-digital methods, which leads to inefficiencies such as data inconsistency, poor coordination, and lack of transparency. Participants face difficulties in accessing event information and booking tickets, while organizers struggle with tracking registrations and managing resources. The absence of a centralized system results in delays, errors, and communication gaps. Additionally, there is no proper mechanism for real-time updates or automated confirmations. This creates inconvenience for both users and administrators. Therefore, there is a need for a reliable and integrated platform that can streamline event management and ticketing processes efficiently.</a:t>
            </a:r>
            <a:endParaRPr lang="en-IN"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09357" y="3315742"/>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3</a:t>
              </a:r>
            </a:p>
          </p:txBody>
        </p:sp>
      </p:grpSp>
      <p:grpSp>
        <p:nvGrpSpPr>
          <p:cNvPr id="10" name="Group 10"/>
          <p:cNvGrpSpPr/>
          <p:nvPr/>
        </p:nvGrpSpPr>
        <p:grpSpPr>
          <a:xfrm>
            <a:off x="951509" y="4428296"/>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3" name="Group 13"/>
          <p:cNvGrpSpPr/>
          <p:nvPr/>
        </p:nvGrpSpPr>
        <p:grpSpPr>
          <a:xfrm>
            <a:off x="951509"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51509" y="5094059"/>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19" name="Group 19"/>
          <p:cNvGrpSpPr/>
          <p:nvPr/>
        </p:nvGrpSpPr>
        <p:grpSpPr>
          <a:xfrm>
            <a:off x="951509"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51509" y="6425585"/>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5" name="Group 25"/>
          <p:cNvGrpSpPr/>
          <p:nvPr/>
        </p:nvGrpSpPr>
        <p:grpSpPr>
          <a:xfrm>
            <a:off x="951509" y="575982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41" name="Group 41"/>
          <p:cNvGrpSpPr/>
          <p:nvPr/>
        </p:nvGrpSpPr>
        <p:grpSpPr>
          <a:xfrm>
            <a:off x="951509" y="7093216"/>
            <a:ext cx="508158" cy="543805"/>
            <a:chOff x="0" y="0"/>
            <a:chExt cx="812800" cy="869819"/>
          </a:xfrm>
        </p:grpSpPr>
        <p:sp>
          <p:nvSpPr>
            <p:cNvPr id="42" name="Freeform 4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3" name="TextBox 4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4" name="Group 44"/>
          <p:cNvGrpSpPr/>
          <p:nvPr/>
        </p:nvGrpSpPr>
        <p:grpSpPr>
          <a:xfrm>
            <a:off x="951509" y="7760846"/>
            <a:ext cx="508158" cy="543805"/>
            <a:chOff x="0" y="0"/>
            <a:chExt cx="812800" cy="869819"/>
          </a:xfrm>
        </p:grpSpPr>
        <p:sp>
          <p:nvSpPr>
            <p:cNvPr id="45" name="Freeform 4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6" name="TextBox 4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50" name="TextBox 49">
            <a:extLst>
              <a:ext uri="{FF2B5EF4-FFF2-40B4-BE49-F238E27FC236}">
                <a16:creationId xmlns:a16="http://schemas.microsoft.com/office/drawing/2014/main" id="{5B915D36-EE4F-CB45-6DD3-E1B9C803EB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OBJECTIVE(S)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1" name="Freeform 10">
            <a:extLst>
              <a:ext uri="{FF2B5EF4-FFF2-40B4-BE49-F238E27FC236}">
                <a16:creationId xmlns:a16="http://schemas.microsoft.com/office/drawing/2014/main" id="{CC7EEF9B-9155-23B5-AEE9-85067B6C258B}"/>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2" name="Rectangle 1">
            <a:extLst>
              <a:ext uri="{FF2B5EF4-FFF2-40B4-BE49-F238E27FC236}">
                <a16:creationId xmlns:a16="http://schemas.microsoft.com/office/drawing/2014/main" id="{13F666A2-BCA9-BDB1-ADC2-F70931AF0D9E}"/>
              </a:ext>
            </a:extLst>
          </p:cNvPr>
          <p:cNvSpPr>
            <a:spLocks noChangeArrowheads="1"/>
          </p:cNvSpPr>
          <p:nvPr/>
        </p:nvSpPr>
        <p:spPr bwMode="auto">
          <a:xfrm>
            <a:off x="1905000" y="2496562"/>
            <a:ext cx="24878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
        <p:nvSpPr>
          <p:cNvPr id="3" name="Rectangle 1">
            <a:extLst>
              <a:ext uri="{FF2B5EF4-FFF2-40B4-BE49-F238E27FC236}">
                <a16:creationId xmlns:a16="http://schemas.microsoft.com/office/drawing/2014/main" id="{8D3C2A77-A92C-CFBD-E1DE-B17D24D12384}"/>
              </a:ext>
            </a:extLst>
          </p:cNvPr>
          <p:cNvSpPr>
            <a:spLocks noChangeArrowheads="1"/>
          </p:cNvSpPr>
          <p:nvPr/>
        </p:nvSpPr>
        <p:spPr bwMode="auto">
          <a:xfrm>
            <a:off x="2971800" y="3110258"/>
            <a:ext cx="11201400"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indent="-457200">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Develop a centralized platform to manage campus events efficiently</a:t>
            </a:r>
          </a:p>
          <a:p>
            <a:pPr marL="457200" indent="-457200">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Enable users to view events, book tickets, and get instant confirmations</a:t>
            </a:r>
          </a:p>
          <a:p>
            <a:pPr marL="457200" indent="-457200">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Provide admins with tools to create, update, and monitor events </a:t>
            </a:r>
          </a:p>
          <a:p>
            <a:pPr marL="457200" indent="-457200">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3" name="Group 13"/>
          <p:cNvGrpSpPr/>
          <p:nvPr/>
        </p:nvGrpSpPr>
        <p:grpSpPr>
          <a:xfrm>
            <a:off x="709357" y="3983373"/>
            <a:ext cx="992463" cy="992463"/>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5" name="TextBox 15"/>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4</a:t>
              </a:r>
            </a:p>
          </p:txBody>
        </p:sp>
      </p:grpSp>
      <p:grpSp>
        <p:nvGrpSpPr>
          <p:cNvPr id="16" name="Group 16"/>
          <p:cNvGrpSpPr/>
          <p:nvPr/>
        </p:nvGrpSpPr>
        <p:grpSpPr>
          <a:xfrm>
            <a:off x="951509" y="3315742"/>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9" name="Group 19"/>
          <p:cNvGrpSpPr/>
          <p:nvPr/>
        </p:nvGrpSpPr>
        <p:grpSpPr>
          <a:xfrm>
            <a:off x="951509" y="1982349"/>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2" name="Group 22"/>
          <p:cNvGrpSpPr/>
          <p:nvPr/>
        </p:nvGrpSpPr>
        <p:grpSpPr>
          <a:xfrm>
            <a:off x="951509" y="5094059"/>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5" name="Group 25"/>
          <p:cNvGrpSpPr/>
          <p:nvPr/>
        </p:nvGrpSpPr>
        <p:grpSpPr>
          <a:xfrm>
            <a:off x="951509" y="264811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8" name="Group 28"/>
          <p:cNvGrpSpPr/>
          <p:nvPr/>
        </p:nvGrpSpPr>
        <p:grpSpPr>
          <a:xfrm>
            <a:off x="951509" y="6425585"/>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51509" y="575982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4" name="Group 34"/>
          <p:cNvGrpSpPr/>
          <p:nvPr/>
        </p:nvGrpSpPr>
        <p:grpSpPr>
          <a:xfrm>
            <a:off x="951509" y="7093216"/>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7" name="Group 37"/>
          <p:cNvGrpSpPr/>
          <p:nvPr/>
        </p:nvGrpSpPr>
        <p:grpSpPr>
          <a:xfrm>
            <a:off x="951509" y="776084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5" name="Freeform 10">
            <a:extLst>
              <a:ext uri="{FF2B5EF4-FFF2-40B4-BE49-F238E27FC236}">
                <a16:creationId xmlns:a16="http://schemas.microsoft.com/office/drawing/2014/main" id="{D5D1FD99-C9A7-927E-AD67-E70F11DBAAA2}"/>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6" name="TextBox 45">
            <a:extLst>
              <a:ext uri="{FF2B5EF4-FFF2-40B4-BE49-F238E27FC236}">
                <a16:creationId xmlns:a16="http://schemas.microsoft.com/office/drawing/2014/main" id="{E7218D14-8F44-8040-8BFD-49A59591F527}"/>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E8F19716-1653-9AE0-442E-B3829A585B46}"/>
              </a:ext>
            </a:extLst>
          </p:cNvPr>
          <p:cNvSpPr txBox="1"/>
          <p:nvPr/>
        </p:nvSpPr>
        <p:spPr>
          <a:xfrm>
            <a:off x="2254166" y="2354816"/>
            <a:ext cx="15082325" cy="3108543"/>
          </a:xfrm>
          <a:prstGeom prst="rect">
            <a:avLst/>
          </a:prstGeom>
          <a:noFill/>
        </p:spPr>
        <p:txBody>
          <a:bodyPr wrap="square" rtlCol="0">
            <a:spAutoFit/>
          </a:bodyPr>
          <a:lstStyle/>
          <a:p>
            <a:pPr marL="457200" indent="-457200">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Provides a centralized web platform for managing all campus events </a:t>
            </a:r>
          </a:p>
          <a:p>
            <a:pPr marL="457200" indent="-457200">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Allows users to easily browse events and book tickets online Enables real-time updates on event</a:t>
            </a:r>
          </a:p>
          <a:p>
            <a:pPr marL="457200" indent="-457200">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 details and ticket availability Automates booking confirmation through instant notifications</a:t>
            </a:r>
          </a:p>
          <a:p>
            <a:pPr marL="457200" indent="-457200">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Reduces manual errors and improves data accuracy </a:t>
            </a:r>
          </a:p>
          <a:p>
            <a:pPr marL="457200" indent="-457200">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Simplifies event management for administrators with a dedicated dashboard </a:t>
            </a:r>
          </a:p>
          <a:p>
            <a:pPr marL="457200" indent="-457200">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Enhances user experience with a smooth and interactive interface</a:t>
            </a:r>
          </a:p>
          <a:p>
            <a:pPr marL="457200" indent="-457200">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 More efficient and cost-effective compared to traditional/manual systems</a:t>
            </a:r>
            <a:endParaRPr lang="en-IN"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5" name="Group 5"/>
          <p:cNvGrpSpPr/>
          <p:nvPr/>
        </p:nvGrpSpPr>
        <p:grpSpPr>
          <a:xfrm>
            <a:off x="709357" y="4655766"/>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5</a:t>
              </a:r>
            </a:p>
          </p:txBody>
        </p:sp>
      </p:grpSp>
      <p:grpSp>
        <p:nvGrpSpPr>
          <p:cNvPr id="8" name="Group 8"/>
          <p:cNvGrpSpPr/>
          <p:nvPr/>
        </p:nvGrpSpPr>
        <p:grpSpPr>
          <a:xfrm>
            <a:off x="951509" y="3320505"/>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p:cNvGrpSpPr/>
          <p:nvPr/>
        </p:nvGrpSpPr>
        <p:grpSpPr>
          <a:xfrm>
            <a:off x="951509" y="1987111"/>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p:cNvGrpSpPr/>
          <p:nvPr/>
        </p:nvGrpSpPr>
        <p:grpSpPr>
          <a:xfrm>
            <a:off x="951509" y="3988135"/>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2652874"/>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p:cNvGrpSpPr/>
          <p:nvPr/>
        </p:nvGrpSpPr>
        <p:grpSpPr>
          <a:xfrm>
            <a:off x="951509" y="6430348"/>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3" name="Group 23"/>
          <p:cNvGrpSpPr/>
          <p:nvPr/>
        </p:nvGrpSpPr>
        <p:grpSpPr>
          <a:xfrm>
            <a:off x="951509" y="5764584"/>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6" name="Group 26"/>
          <p:cNvGrpSpPr/>
          <p:nvPr/>
        </p:nvGrpSpPr>
        <p:grpSpPr>
          <a:xfrm>
            <a:off x="951509" y="7088453"/>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29" name="Group 29"/>
          <p:cNvGrpSpPr/>
          <p:nvPr/>
        </p:nvGrpSpPr>
        <p:grpSpPr>
          <a:xfrm>
            <a:off x="951509" y="7756083"/>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7" name="Group 37"/>
          <p:cNvGrpSpPr/>
          <p:nvPr/>
        </p:nvGrpSpPr>
        <p:grpSpPr>
          <a:xfrm>
            <a:off x="11762088" y="-9632634"/>
            <a:ext cx="10994424" cy="10994424"/>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9" name="TextBox 39"/>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1" name="Freeform 10">
            <a:extLst>
              <a:ext uri="{FF2B5EF4-FFF2-40B4-BE49-F238E27FC236}">
                <a16:creationId xmlns:a16="http://schemas.microsoft.com/office/drawing/2014/main" id="{01BC0C31-7FCD-94EE-8B85-19FBC227565C}"/>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2" name="TextBox 41">
            <a:extLst>
              <a:ext uri="{FF2B5EF4-FFF2-40B4-BE49-F238E27FC236}">
                <a16:creationId xmlns:a16="http://schemas.microsoft.com/office/drawing/2014/main" id="{A4B3B85F-0C7B-16B9-6D50-94A4DFD2D192}"/>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 ARCHITECTURE</a:t>
            </a: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34" name="Picture 33">
            <a:extLst>
              <a:ext uri="{FF2B5EF4-FFF2-40B4-BE49-F238E27FC236}">
                <a16:creationId xmlns:a16="http://schemas.microsoft.com/office/drawing/2014/main" id="{1C1344CC-3093-9579-407C-E13BCCB1C38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97665" y="1209579"/>
            <a:ext cx="11092669" cy="88773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4" name="Group 14"/>
          <p:cNvGrpSpPr/>
          <p:nvPr/>
        </p:nvGrpSpPr>
        <p:grpSpPr>
          <a:xfrm>
            <a:off x="735588" y="5318634"/>
            <a:ext cx="992463" cy="99246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6" name="TextBox 16"/>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6</a:t>
              </a:r>
            </a:p>
          </p:txBody>
        </p:sp>
      </p:grpSp>
      <p:grpSp>
        <p:nvGrpSpPr>
          <p:cNvPr id="17" name="Group 17"/>
          <p:cNvGrpSpPr/>
          <p:nvPr/>
        </p:nvGrpSpPr>
        <p:grpSpPr>
          <a:xfrm>
            <a:off x="977741" y="331574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0" name="Group 20"/>
          <p:cNvGrpSpPr/>
          <p:nvPr/>
        </p:nvGrpSpPr>
        <p:grpSpPr>
          <a:xfrm>
            <a:off x="977741" y="198234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3" name="Group 23"/>
          <p:cNvGrpSpPr/>
          <p:nvPr/>
        </p:nvGrpSpPr>
        <p:grpSpPr>
          <a:xfrm>
            <a:off x="977741" y="398337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26" name="Group 26"/>
          <p:cNvGrpSpPr/>
          <p:nvPr/>
        </p:nvGrpSpPr>
        <p:grpSpPr>
          <a:xfrm>
            <a:off x="977741" y="2648112"/>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9" name="Group 29"/>
          <p:cNvGrpSpPr/>
          <p:nvPr/>
        </p:nvGrpSpPr>
        <p:grpSpPr>
          <a:xfrm>
            <a:off x="977741" y="6425585"/>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2" name="Group 32"/>
          <p:cNvGrpSpPr/>
          <p:nvPr/>
        </p:nvGrpSpPr>
        <p:grpSpPr>
          <a:xfrm>
            <a:off x="977741" y="4651003"/>
            <a:ext cx="508158" cy="543805"/>
            <a:chOff x="0" y="0"/>
            <a:chExt cx="812800" cy="869819"/>
          </a:xfrm>
        </p:grpSpPr>
        <p:sp>
          <p:nvSpPr>
            <p:cNvPr id="33" name="Freeform 3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4" name="TextBox 3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37" name="Group 37"/>
          <p:cNvGrpSpPr/>
          <p:nvPr/>
        </p:nvGrpSpPr>
        <p:grpSpPr>
          <a:xfrm>
            <a:off x="977741" y="709321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0" name="Group 40"/>
          <p:cNvGrpSpPr/>
          <p:nvPr/>
        </p:nvGrpSpPr>
        <p:grpSpPr>
          <a:xfrm>
            <a:off x="977741" y="776084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663A130-069F-2D83-78E7-4DA0FE7AAC6E}"/>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7" name="TextBox 46">
            <a:extLst>
              <a:ext uri="{FF2B5EF4-FFF2-40B4-BE49-F238E27FC236}">
                <a16:creationId xmlns:a16="http://schemas.microsoft.com/office/drawing/2014/main" id="{1B156733-A733-69AA-7523-59650E125994}"/>
              </a:ext>
            </a:extLst>
          </p:cNvPr>
          <p:cNvSpPr txBox="1"/>
          <p:nvPr/>
        </p:nvSpPr>
        <p:spPr>
          <a:xfrm>
            <a:off x="190500" y="315938"/>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WORKFLOW</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0" name="TextBox 49">
            <a:extLst>
              <a:ext uri="{FF2B5EF4-FFF2-40B4-BE49-F238E27FC236}">
                <a16:creationId xmlns:a16="http://schemas.microsoft.com/office/drawing/2014/main" id="{D04F3B99-A5D2-54DC-51CD-4E86A99D3EA2}"/>
              </a:ext>
            </a:extLst>
          </p:cNvPr>
          <p:cNvSpPr txBox="1"/>
          <p:nvPr/>
        </p:nvSpPr>
        <p:spPr>
          <a:xfrm>
            <a:off x="2209800" y="1638300"/>
            <a:ext cx="15082325" cy="4832092"/>
          </a:xfrm>
          <a:prstGeom prst="rect">
            <a:avLst/>
          </a:prstGeom>
          <a:noFill/>
        </p:spPr>
        <p:txBody>
          <a:bodyPr wrap="square" rtlCol="0">
            <a:spAutoFit/>
          </a:bodyPr>
          <a:lstStyle/>
          <a:p>
            <a:endParaRPr lang="en-US" sz="2800" dirty="0"/>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id="{3C7D1F4F-31D7-316C-32AE-E8D1E57CCAD0}"/>
              </a:ext>
            </a:extLst>
          </p:cNvPr>
          <p:cNvPicPr>
            <a:picLocks noChangeAspect="1"/>
          </p:cNvPicPr>
          <p:nvPr/>
        </p:nvPicPr>
        <p:blipFill>
          <a:blip r:embed="rId3"/>
          <a:srcRect t="8038"/>
          <a:stretch>
            <a:fillRect/>
          </a:stretch>
        </p:blipFill>
        <p:spPr>
          <a:xfrm>
            <a:off x="2209800" y="1741462"/>
            <a:ext cx="15082325" cy="756814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9" name="Group 19"/>
          <p:cNvGrpSpPr/>
          <p:nvPr/>
        </p:nvGrpSpPr>
        <p:grpSpPr>
          <a:xfrm>
            <a:off x="735588" y="5976927"/>
            <a:ext cx="992463" cy="992463"/>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21" name="TextBox 2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7</a:t>
              </a:r>
            </a:p>
          </p:txBody>
        </p:sp>
      </p:grpSp>
      <p:grpSp>
        <p:nvGrpSpPr>
          <p:cNvPr id="22" name="Group 22"/>
          <p:cNvGrpSpPr/>
          <p:nvPr/>
        </p:nvGrpSpPr>
        <p:grpSpPr>
          <a:xfrm>
            <a:off x="977741" y="3315742"/>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5" name="Group 25"/>
          <p:cNvGrpSpPr/>
          <p:nvPr/>
        </p:nvGrpSpPr>
        <p:grpSpPr>
          <a:xfrm>
            <a:off x="977741" y="1982349"/>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8" name="Group 28"/>
          <p:cNvGrpSpPr/>
          <p:nvPr/>
        </p:nvGrpSpPr>
        <p:grpSpPr>
          <a:xfrm>
            <a:off x="977741" y="3983373"/>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31" name="Group 31"/>
          <p:cNvGrpSpPr/>
          <p:nvPr/>
        </p:nvGrpSpPr>
        <p:grpSpPr>
          <a:xfrm>
            <a:off x="977741" y="264811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34" name="Group 34"/>
          <p:cNvGrpSpPr/>
          <p:nvPr/>
        </p:nvGrpSpPr>
        <p:grpSpPr>
          <a:xfrm>
            <a:off x="977741" y="5318634"/>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7" name="Group 37"/>
          <p:cNvGrpSpPr/>
          <p:nvPr/>
        </p:nvGrpSpPr>
        <p:grpSpPr>
          <a:xfrm>
            <a:off x="977741" y="4651003"/>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40" name="Group 40"/>
          <p:cNvGrpSpPr/>
          <p:nvPr/>
        </p:nvGrpSpPr>
        <p:grpSpPr>
          <a:xfrm>
            <a:off x="977741" y="709321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3" name="Group 43"/>
          <p:cNvGrpSpPr/>
          <p:nvPr/>
        </p:nvGrpSpPr>
        <p:grpSpPr>
          <a:xfrm>
            <a:off x="977741" y="7760846"/>
            <a:ext cx="508158" cy="543805"/>
            <a:chOff x="0" y="0"/>
            <a:chExt cx="812800" cy="869819"/>
          </a:xfrm>
        </p:grpSpPr>
        <p:sp>
          <p:nvSpPr>
            <p:cNvPr id="44" name="Freeform 4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5" name="TextBox 4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07389F6-23D0-83F6-DD02-F20D61DADE76}"/>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7" name="TextBox 46">
            <a:extLst>
              <a:ext uri="{FF2B5EF4-FFF2-40B4-BE49-F238E27FC236}">
                <a16:creationId xmlns:a16="http://schemas.microsoft.com/office/drawing/2014/main" id="{E4ED097B-FECF-66E6-2A98-0F8B4D948FC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TECHNOLOGIES USED</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26E9F5F9-CCF8-6F05-4C01-034C88D7529E}"/>
              </a:ext>
            </a:extLst>
          </p:cNvPr>
          <p:cNvSpPr txBox="1"/>
          <p:nvPr/>
        </p:nvSpPr>
        <p:spPr>
          <a:xfrm>
            <a:off x="2209800" y="1638300"/>
            <a:ext cx="15082325" cy="5262979"/>
          </a:xfrm>
          <a:prstGeom prst="rect">
            <a:avLst/>
          </a:prstGeom>
          <a:noFill/>
        </p:spPr>
        <p:txBody>
          <a:bodyPr wrap="square" rtlCol="0">
            <a:spAutoFit/>
          </a:bodyPr>
          <a:lstStyle/>
          <a:p>
            <a:r>
              <a:rPr lang="en-IN" sz="2800" b="1" dirty="0">
                <a:latin typeface="Times New Roman" panose="02020603050405020304" pitchFamily="18" charset="0"/>
                <a:cs typeface="Times New Roman" panose="02020603050405020304" pitchFamily="18" charset="0"/>
              </a:rPr>
              <a:t>Frontend:</a:t>
            </a:r>
            <a:br>
              <a:rPr lang="en-IN" sz="2800" dirty="0">
                <a:latin typeface="Times New Roman" panose="02020603050405020304" pitchFamily="18" charset="0"/>
                <a:cs typeface="Times New Roman" panose="02020603050405020304" pitchFamily="18" charset="0"/>
              </a:rPr>
            </a:br>
            <a:r>
              <a:rPr lang="en-IN" sz="2800" dirty="0">
                <a:latin typeface="Times New Roman" panose="02020603050405020304" pitchFamily="18" charset="0"/>
                <a:cs typeface="Times New Roman" panose="02020603050405020304" pitchFamily="18" charset="0"/>
              </a:rPr>
              <a:t>React.js, HTML, CSS, JavaScript</a:t>
            </a:r>
          </a:p>
          <a:p>
            <a:r>
              <a:rPr lang="en-IN" sz="2800" b="1" dirty="0">
                <a:latin typeface="Times New Roman" panose="02020603050405020304" pitchFamily="18" charset="0"/>
                <a:cs typeface="Times New Roman" panose="02020603050405020304" pitchFamily="18" charset="0"/>
              </a:rPr>
              <a:t>Backend:</a:t>
            </a:r>
            <a:br>
              <a:rPr lang="en-IN" sz="2800" dirty="0">
                <a:latin typeface="Times New Roman" panose="02020603050405020304" pitchFamily="18" charset="0"/>
                <a:cs typeface="Times New Roman" panose="02020603050405020304" pitchFamily="18" charset="0"/>
              </a:rPr>
            </a:br>
            <a:r>
              <a:rPr lang="en-IN" sz="2800" dirty="0">
                <a:latin typeface="Times New Roman" panose="02020603050405020304" pitchFamily="18" charset="0"/>
                <a:cs typeface="Times New Roman" panose="02020603050405020304" pitchFamily="18" charset="0"/>
              </a:rPr>
              <a:t>Node.js, Express.js</a:t>
            </a:r>
          </a:p>
          <a:p>
            <a:r>
              <a:rPr lang="en-IN" sz="2800" b="1" dirty="0">
                <a:latin typeface="Times New Roman" panose="02020603050405020304" pitchFamily="18" charset="0"/>
                <a:cs typeface="Times New Roman" panose="02020603050405020304" pitchFamily="18" charset="0"/>
              </a:rPr>
              <a:t>Database:</a:t>
            </a:r>
            <a:br>
              <a:rPr lang="en-IN" sz="2800" dirty="0">
                <a:latin typeface="Times New Roman" panose="02020603050405020304" pitchFamily="18" charset="0"/>
                <a:cs typeface="Times New Roman" panose="02020603050405020304" pitchFamily="18" charset="0"/>
              </a:rPr>
            </a:br>
            <a:r>
              <a:rPr lang="en-IN" sz="2800" dirty="0">
                <a:latin typeface="Times New Roman" panose="02020603050405020304" pitchFamily="18" charset="0"/>
                <a:cs typeface="Times New Roman" panose="02020603050405020304" pitchFamily="18" charset="0"/>
              </a:rPr>
              <a:t>MySQL/H2 Console</a:t>
            </a:r>
          </a:p>
          <a:p>
            <a:r>
              <a:rPr lang="en-IN" sz="2800" b="1" dirty="0">
                <a:latin typeface="Times New Roman" panose="02020603050405020304" pitchFamily="18" charset="0"/>
                <a:cs typeface="Times New Roman" panose="02020603050405020304" pitchFamily="18" charset="0"/>
              </a:rPr>
              <a:t>Third-Party API:</a:t>
            </a:r>
            <a:br>
              <a:rPr lang="en-IN" sz="2800" dirty="0">
                <a:latin typeface="Times New Roman" panose="02020603050405020304" pitchFamily="18" charset="0"/>
                <a:cs typeface="Times New Roman" panose="02020603050405020304" pitchFamily="18" charset="0"/>
              </a:rPr>
            </a:br>
            <a:r>
              <a:rPr lang="en-IN" sz="2800" dirty="0">
                <a:latin typeface="Times New Roman" panose="02020603050405020304" pitchFamily="18" charset="0"/>
                <a:cs typeface="Times New Roman" panose="02020603050405020304" pitchFamily="18" charset="0"/>
              </a:rPr>
              <a:t>Nodemailer (for email notifications)</a:t>
            </a:r>
          </a:p>
          <a:p>
            <a:r>
              <a:rPr lang="en-IN" sz="2800" b="1" dirty="0">
                <a:latin typeface="Times New Roman" panose="02020603050405020304" pitchFamily="18" charset="0"/>
                <a:cs typeface="Times New Roman" panose="02020603050405020304" pitchFamily="18" charset="0"/>
              </a:rPr>
              <a:t>Tools:</a:t>
            </a:r>
            <a:br>
              <a:rPr lang="en-IN" sz="2800" dirty="0">
                <a:latin typeface="Times New Roman" panose="02020603050405020304" pitchFamily="18" charset="0"/>
                <a:cs typeface="Times New Roman" panose="02020603050405020304" pitchFamily="18" charset="0"/>
              </a:rPr>
            </a:br>
            <a:r>
              <a:rPr lang="en-IN" sz="2800" dirty="0">
                <a:latin typeface="Times New Roman" panose="02020603050405020304" pitchFamily="18" charset="0"/>
                <a:cs typeface="Times New Roman" panose="02020603050405020304" pitchFamily="18" charset="0"/>
              </a:rPr>
              <a:t>VS Code</a:t>
            </a:r>
          </a:p>
          <a:p>
            <a:r>
              <a:rPr lang="en-IN" sz="2800" b="1" dirty="0">
                <a:latin typeface="Times New Roman" panose="02020603050405020304" pitchFamily="18" charset="0"/>
                <a:cs typeface="Times New Roman" panose="02020603050405020304" pitchFamily="18" charset="0"/>
              </a:rPr>
              <a:t>Hardware/Software Requirements:</a:t>
            </a:r>
            <a:br>
              <a:rPr lang="en-IN" sz="2800" dirty="0">
                <a:latin typeface="Times New Roman" panose="02020603050405020304" pitchFamily="18" charset="0"/>
                <a:cs typeface="Times New Roman" panose="02020603050405020304" pitchFamily="18" charset="0"/>
              </a:rPr>
            </a:br>
            <a:r>
              <a:rPr lang="en-IN" sz="2800" dirty="0">
                <a:latin typeface="Times New Roman" panose="02020603050405020304" pitchFamily="18" charset="0"/>
                <a:cs typeface="Times New Roman" panose="02020603050405020304" pitchFamily="18" charset="0"/>
              </a:rPr>
              <a:t>Intel i3 or above, 4GB RAM (minimum), Windows, Web Browser (Chrome), Node.js installed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8</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3" name="TextBox 42">
            <a:extLst>
              <a:ext uri="{FF2B5EF4-FFF2-40B4-BE49-F238E27FC236}">
                <a16:creationId xmlns:a16="http://schemas.microsoft.com/office/drawing/2014/main" id="{9A1BCE7C-890E-A01E-691E-1D3D07CF6333}"/>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MODULE DESCRIPTION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304C197-EAC7-7A26-FAED-ED7302DBEC6E}"/>
              </a:ext>
            </a:extLst>
          </p:cNvPr>
          <p:cNvSpPr txBox="1"/>
          <p:nvPr/>
        </p:nvSpPr>
        <p:spPr>
          <a:xfrm>
            <a:off x="2223018" y="1281147"/>
            <a:ext cx="15082325" cy="9571851"/>
          </a:xfrm>
          <a:prstGeom prst="rect">
            <a:avLst/>
          </a:prstGeom>
          <a:noFill/>
        </p:spPr>
        <p:txBody>
          <a:bodyPr wrap="square" rtlCol="0">
            <a:spAutoFit/>
          </a:bodyPr>
          <a:lstStyle/>
          <a:p>
            <a:endParaRPr lang="en-IN" sz="2800" b="1" dirty="0"/>
          </a:p>
          <a:p>
            <a:pPr marL="457200" indent="-457200">
              <a:buFont typeface="Wingdings" panose="05000000000000000000" pitchFamily="2" charset="2"/>
              <a:buChar char="q"/>
            </a:pPr>
            <a:r>
              <a:rPr lang="en-IN" sz="2800" b="1" dirty="0">
                <a:latin typeface="Times New Roman" panose="02020603050405020304" pitchFamily="18" charset="0"/>
                <a:cs typeface="Times New Roman" panose="02020603050405020304" pitchFamily="18" charset="0"/>
              </a:rPr>
              <a:t>Module 1 – User Booking</a:t>
            </a: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Select event </a:t>
            </a: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Enter details </a:t>
            </a: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Book ticket </a:t>
            </a:r>
          </a:p>
          <a:p>
            <a:pPr marL="457200" indent="-457200">
              <a:buFont typeface="Wingdings" panose="05000000000000000000" pitchFamily="2" charset="2"/>
              <a:buChar char="q"/>
            </a:pPr>
            <a:r>
              <a:rPr lang="en-IN" sz="2800" b="1" dirty="0">
                <a:latin typeface="Times New Roman" panose="02020603050405020304" pitchFamily="18" charset="0"/>
                <a:cs typeface="Times New Roman" panose="02020603050405020304" pitchFamily="18" charset="0"/>
              </a:rPr>
              <a:t>Module 2 – Confirmation</a:t>
            </a: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Displays user details </a:t>
            </a: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Shows event info </a:t>
            </a: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Proceed to payment </a:t>
            </a:r>
          </a:p>
          <a:p>
            <a:pPr marL="457200" indent="-457200">
              <a:buFont typeface="Wingdings" panose="05000000000000000000" pitchFamily="2" charset="2"/>
              <a:buChar char="q"/>
            </a:pPr>
            <a:r>
              <a:rPr lang="en-IN" sz="2800" b="1" dirty="0">
                <a:latin typeface="Times New Roman" panose="02020603050405020304" pitchFamily="18" charset="0"/>
                <a:cs typeface="Times New Roman" panose="02020603050405020304" pitchFamily="18" charset="0"/>
              </a:rPr>
              <a:t>Module 3 – Payment</a:t>
            </a: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Enter card details </a:t>
            </a: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Simulated payment </a:t>
            </a: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Booking confirmation alert </a:t>
            </a:r>
          </a:p>
          <a:p>
            <a:pPr marL="457200" indent="-457200">
              <a:buFont typeface="Wingdings" panose="05000000000000000000" pitchFamily="2" charset="2"/>
              <a:buChar char="q"/>
            </a:pPr>
            <a:r>
              <a:rPr lang="en-IN" sz="2800" b="1" dirty="0">
                <a:latin typeface="Times New Roman" panose="02020603050405020304" pitchFamily="18" charset="0"/>
                <a:cs typeface="Times New Roman" panose="02020603050405020304" pitchFamily="18" charset="0"/>
              </a:rPr>
              <a:t>Module 4 – Admin Panel</a:t>
            </a: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Add event </a:t>
            </a: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Delete event </a:t>
            </a: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View bookings</a:t>
            </a:r>
          </a:p>
          <a:p>
            <a:endParaRPr lang="en-IN" sz="2800" dirty="0">
              <a:latin typeface="Times New Roman" panose="02020603050405020304" pitchFamily="18" charset="0"/>
              <a:cs typeface="Times New Roman" panose="02020603050405020304" pitchFamily="18" charset="0"/>
            </a:endParaRPr>
          </a:p>
          <a:p>
            <a:endParaRPr lang="en-IN" sz="2800" dirty="0">
              <a:latin typeface="Times New Roman" panose="02020603050405020304" pitchFamily="18" charset="0"/>
              <a:cs typeface="Times New Roman" panose="02020603050405020304" pitchFamily="18" charset="0"/>
            </a:endParaRPr>
          </a:p>
          <a:p>
            <a:endParaRPr lang="en-IN" sz="2800" dirty="0">
              <a:latin typeface="Times New Roman" panose="02020603050405020304" pitchFamily="18" charset="0"/>
              <a:cs typeface="Times New Roman" panose="02020603050405020304" pitchFamily="18" charset="0"/>
            </a:endParaRPr>
          </a:p>
          <a:p>
            <a:endParaRPr lang="en-IN" sz="2800" dirty="0"/>
          </a:p>
          <a:p>
            <a:endParaRPr lang="en-IN" sz="2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E0BFBA1B-7EE7-47B6-41F3-C4B61A979F6F}"/>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D8CD5C70-566B-9213-9F31-546BB621CCAF}"/>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7EBAE7EB-82E8-3AF5-3C43-EA7688F7325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5294143A-C171-B89D-02DF-136CB32B43C9}"/>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t>
              </a:r>
            </a:p>
          </p:txBody>
        </p:sp>
      </p:grpSp>
      <p:grpSp>
        <p:nvGrpSpPr>
          <p:cNvPr id="10" name="Group 10">
            <a:extLst>
              <a:ext uri="{FF2B5EF4-FFF2-40B4-BE49-F238E27FC236}">
                <a16:creationId xmlns:a16="http://schemas.microsoft.com/office/drawing/2014/main" id="{811A371D-2A07-AABC-E66C-143D37E0F12C}"/>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2F7BDC7D-6911-7D85-E73A-2061DE32440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6DEA2241-E6A3-8051-F424-21070A5DF29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4DD3D6A9-1C97-9943-C984-B50356BAE3FF}"/>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6BB1489C-F4F8-D62E-3AD9-3CAA028A426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A4A64A6E-EA7C-DFF0-C280-5041CD8B135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BE5FF856-5043-C428-B45A-4C00BF9D3418}"/>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CFC7AF72-B76A-8AD8-7E70-BDE8837D662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F6C277EF-EDEF-0F79-B4B2-AB1B3E58301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A32CD2C6-1D06-729E-1157-B2EAAEA172A4}"/>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A222D7EA-F7CE-B4F5-4D06-02860C5AC3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17F695A3-7B3D-00FE-26D6-E53B473BCF1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5A8D3527-DD17-232E-3ECB-BDBFC0FF3DE7}"/>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1C3EBC87-5F86-657B-5C0D-7DFFB3C4281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5638183B-03CC-91E5-1C67-EAD126FB6DA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8C4C8B82-0B52-9912-DBAF-71546B2F401E}"/>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371F41C0-C399-6E94-B393-623F6ED78C3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05375A05-CD15-FECF-CF37-72BD8B495C3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FFA9D0CA-D989-1DF0-9CD9-7BB1BF37D00D}"/>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6D72D40E-C3C8-1774-56F7-396EA1F5463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2A94558C-EEEF-6159-C648-7ED1F2545B1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A8A0868D-7450-B2DC-5A6A-A607E39122E3}"/>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27C0AD0-E7DC-50B1-90B8-A6B2DA72DDA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9B60539C-7696-ACA6-9070-BC481578187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0A2A8C1-A254-99B6-B7B0-C5A8A5BB008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5" name="Group 35">
            <a:extLst>
              <a:ext uri="{FF2B5EF4-FFF2-40B4-BE49-F238E27FC236}">
                <a16:creationId xmlns:a16="http://schemas.microsoft.com/office/drawing/2014/main" id="{B814A5FC-F17C-8D1A-04C8-1ED6A2AE0E6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2EC11913-1FC3-79C0-FB94-72486D9673F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6CB89B22-25E1-321C-5A74-15CF8EBC7CA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35C6402D-9C63-51C1-99A9-4206C05377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EC6A4DA-6D4B-3E6A-CF92-E543DD7AFBF5}"/>
              </a:ext>
            </a:extLst>
          </p:cNvPr>
          <p:cNvSpPr txBox="1"/>
          <p:nvPr/>
        </p:nvSpPr>
        <p:spPr>
          <a:xfrm>
            <a:off x="2209800" y="1638300"/>
            <a:ext cx="15082325" cy="3970318"/>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id="{4A4FBE6F-9967-9B5B-FCDE-ECD4C9D1E5B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09800" y="1185765"/>
            <a:ext cx="6934200" cy="4406254"/>
          </a:xfrm>
          <a:prstGeom prst="rect">
            <a:avLst/>
          </a:prstGeom>
        </p:spPr>
      </p:pic>
      <p:pic>
        <p:nvPicPr>
          <p:cNvPr id="6" name="Picture 5">
            <a:extLst>
              <a:ext uri="{FF2B5EF4-FFF2-40B4-BE49-F238E27FC236}">
                <a16:creationId xmlns:a16="http://schemas.microsoft.com/office/drawing/2014/main" id="{D028F828-D148-3CC8-A996-F5F443EA661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327946" y="4913972"/>
            <a:ext cx="8560812" cy="4869169"/>
          </a:xfrm>
          <a:prstGeom prst="rect">
            <a:avLst/>
          </a:prstGeom>
        </p:spPr>
      </p:pic>
      <p:sp>
        <p:nvSpPr>
          <p:cNvPr id="41" name="TextBox 40">
            <a:extLst>
              <a:ext uri="{FF2B5EF4-FFF2-40B4-BE49-F238E27FC236}">
                <a16:creationId xmlns:a16="http://schemas.microsoft.com/office/drawing/2014/main" id="{24FCF256-FEB8-FECE-E0D8-573D95B66FD7}"/>
              </a:ext>
            </a:extLst>
          </p:cNvPr>
          <p:cNvSpPr txBox="1"/>
          <p:nvPr/>
        </p:nvSpPr>
        <p:spPr>
          <a:xfrm>
            <a:off x="3536087" y="5650099"/>
            <a:ext cx="14210674" cy="523220"/>
          </a:xfrm>
          <a:prstGeom prst="rect">
            <a:avLst/>
          </a:prstGeom>
          <a:noFill/>
        </p:spPr>
        <p:txBody>
          <a:bodyPr wrap="square">
            <a:spAutoFit/>
          </a:bodyPr>
          <a:lstStyle/>
          <a:p>
            <a:r>
              <a:rPr lang="fr-FR" sz="2800" dirty="0">
                <a:latin typeface="Times New Roman" panose="02020603050405020304" pitchFamily="18" charset="0"/>
                <a:cs typeface="Times New Roman" panose="02020603050405020304" pitchFamily="18" charset="0"/>
              </a:rPr>
              <a:t>Figure : User Login Page</a:t>
            </a:r>
            <a:endParaRPr lang="en-IN" sz="2800" dirty="0">
              <a:latin typeface="Times New Roman" panose="02020603050405020304" pitchFamily="18" charset="0"/>
              <a:cs typeface="Times New Roman" panose="02020603050405020304" pitchFamily="18" charset="0"/>
            </a:endParaRPr>
          </a:p>
        </p:txBody>
      </p:sp>
      <p:sp>
        <p:nvSpPr>
          <p:cNvPr id="46" name="TextBox 45">
            <a:extLst>
              <a:ext uri="{FF2B5EF4-FFF2-40B4-BE49-F238E27FC236}">
                <a16:creationId xmlns:a16="http://schemas.microsoft.com/office/drawing/2014/main" id="{1E70AE91-80D3-BFAB-73E0-2344ED73540D}"/>
              </a:ext>
            </a:extLst>
          </p:cNvPr>
          <p:cNvSpPr txBox="1"/>
          <p:nvPr/>
        </p:nvSpPr>
        <p:spPr>
          <a:xfrm>
            <a:off x="11814148" y="9700693"/>
            <a:ext cx="14210674" cy="523220"/>
          </a:xfrm>
          <a:prstGeom prst="rect">
            <a:avLst/>
          </a:prstGeom>
          <a:noFill/>
        </p:spPr>
        <p:txBody>
          <a:bodyPr wrap="square">
            <a:spAutoFit/>
          </a:bodyPr>
          <a:lstStyle/>
          <a:p>
            <a:r>
              <a:rPr lang="fr-FR" sz="2800" dirty="0">
                <a:latin typeface="Times New Roman" panose="02020603050405020304" pitchFamily="18" charset="0"/>
                <a:cs typeface="Times New Roman" panose="02020603050405020304" pitchFamily="18" charset="0"/>
              </a:rPr>
              <a:t>Figure : User Registration Page</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981011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B7CF319D-58F2-DF9E-632A-90472F50FA3A}"/>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ADE101F0-A2BF-16E8-7BEC-541911EA9510}"/>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C43B1E5B-104E-DCD5-F042-8DABFE8225A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846A8601-B4CB-7C78-2833-947EEC356CD7}"/>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a:t>
              </a:r>
            </a:p>
          </p:txBody>
        </p:sp>
      </p:grpSp>
      <p:grpSp>
        <p:nvGrpSpPr>
          <p:cNvPr id="10" name="Group 10">
            <a:extLst>
              <a:ext uri="{FF2B5EF4-FFF2-40B4-BE49-F238E27FC236}">
                <a16:creationId xmlns:a16="http://schemas.microsoft.com/office/drawing/2014/main" id="{1C63788E-DB35-987D-1A89-4C3F169DF70E}"/>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676646B6-C6D6-F677-3CA9-56BE5CE444A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3CDDAA79-D530-F622-0CC8-ECE3E95F952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8227745F-FD1B-7135-E88E-D6B924C5CB24}"/>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79292FA3-A80E-1540-0024-754AADCDB01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5A8C7117-591A-F089-5F54-0229077FDEA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29278237-7990-A997-2285-EB2F5BB4EF44}"/>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F37C1434-DB0E-53EF-4140-56A0F3CD6EA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4FC388C1-59EC-CA17-BA41-9AF3AAD42D8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90F65A21-E49B-9858-6EAD-EBC3142E623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EFDE14F0-9F59-E35F-B5B7-45C77C56354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E1181869-B448-2B7A-67F5-160B09C76D9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8B27AB66-420C-E7D0-5891-910B564CA2C2}"/>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F0605CE2-624E-D2DA-6357-65C5FA138C6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DA9B1286-A8A4-091B-5AF9-F0B275F703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127DF020-AEA7-8D57-9411-90D58D65D05B}"/>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00BA2729-D580-CF8D-87CD-EE786F2E40E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F0B6F8BA-7047-AE2A-DB03-E6846F9FAEA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B5DE7324-71F9-1D79-AB1E-F97481653389}"/>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E780ED4E-44DF-E344-CCEA-834D1374F6A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AC7D9CD8-E54E-AD67-D59B-5D4A37A1B41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3560347-DE50-10F7-9905-7228E593D28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1B9E463A-B010-8D72-6350-7242CB0AAF56}"/>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C15BE220-858E-1446-5B56-D3329A06A997}"/>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8F156A3-70B1-1344-389E-4B3C64CA921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5" name="Group 35">
            <a:extLst>
              <a:ext uri="{FF2B5EF4-FFF2-40B4-BE49-F238E27FC236}">
                <a16:creationId xmlns:a16="http://schemas.microsoft.com/office/drawing/2014/main" id="{A36A5C58-00A3-2FE9-36E4-D92AAF44A0F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BADF0EED-F663-F70E-9BB3-C0F576114D0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54542349-F329-7DA6-DBD4-7EFA939B9892}"/>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B6CAD810-8433-9B89-E144-29986E25063F}"/>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746F2C30-13B1-3754-C147-D58A899BC459}"/>
              </a:ext>
            </a:extLst>
          </p:cNvPr>
          <p:cNvSpPr txBox="1"/>
          <p:nvPr/>
        </p:nvSpPr>
        <p:spPr>
          <a:xfrm>
            <a:off x="2209800" y="1638300"/>
            <a:ext cx="15082325" cy="4832092"/>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id="{55C85AD6-7A7D-0D84-51B2-4C843C69C26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41191" y="1179778"/>
            <a:ext cx="9067800" cy="8277710"/>
          </a:xfrm>
          <a:prstGeom prst="rect">
            <a:avLst/>
          </a:prstGeom>
        </p:spPr>
      </p:pic>
      <p:sp>
        <p:nvSpPr>
          <p:cNvPr id="5" name="TextBox 4">
            <a:extLst>
              <a:ext uri="{FF2B5EF4-FFF2-40B4-BE49-F238E27FC236}">
                <a16:creationId xmlns:a16="http://schemas.microsoft.com/office/drawing/2014/main" id="{09AF30DD-1736-FFEF-602B-D7E8D5F6FEEB}"/>
              </a:ext>
            </a:extLst>
          </p:cNvPr>
          <p:cNvSpPr txBox="1"/>
          <p:nvPr/>
        </p:nvSpPr>
        <p:spPr>
          <a:xfrm>
            <a:off x="6333720" y="9486295"/>
            <a:ext cx="14210674" cy="523220"/>
          </a:xfrm>
          <a:prstGeom prst="rect">
            <a:avLst/>
          </a:prstGeom>
          <a:noFill/>
        </p:spPr>
        <p:txBody>
          <a:bodyPr wrap="square">
            <a:spAutoFit/>
          </a:bodyPr>
          <a:lstStyle/>
          <a:p>
            <a:r>
              <a:rPr lang="en-US" sz="2800" dirty="0">
                <a:latin typeface="Times New Roman" panose="02020603050405020304" pitchFamily="18" charset="0"/>
                <a:cs typeface="Times New Roman" panose="02020603050405020304" pitchFamily="18" charset="0"/>
              </a:rPr>
              <a:t>Figure : Event Booking Interface </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811873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C0F4F051-5473-4E78-FEB2-59A87A5FBB9B}"/>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66BE183E-F015-FFD4-5C84-C25B4DCE490A}"/>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3AEC1772-D597-ACC7-7EF1-FF0460F37AA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46839344-8B05-5C56-F0B1-64E24F458991}"/>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8(B)</a:t>
              </a:r>
            </a:p>
          </p:txBody>
        </p:sp>
      </p:grpSp>
      <p:grpSp>
        <p:nvGrpSpPr>
          <p:cNvPr id="10" name="Group 10">
            <a:extLst>
              <a:ext uri="{FF2B5EF4-FFF2-40B4-BE49-F238E27FC236}">
                <a16:creationId xmlns:a16="http://schemas.microsoft.com/office/drawing/2014/main" id="{23B54700-9ABF-8EDD-8B21-24A9248C534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B99246F8-F6B5-2F2E-2FB4-FAE1DD41DCC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B7CDDD7B-8A9B-223F-951A-473D0C9404F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B3E1A8FC-D0F1-BD05-9C14-C10EAE95E57E}"/>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CEB5FB4E-3BF3-BC6A-6692-FE375141E45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38F8F103-F0A5-8F95-A139-8DBEBEF19C2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8C558648-2D59-16EB-3098-EAF5DE978B1F}"/>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B168779D-5467-4E78-AD1E-36B5A75A347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8AFC0BB4-20A4-849D-A1E4-FA90A8DDCC7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700D33AC-D53D-0E96-8752-E5DA06AE57A5}"/>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14DABAFB-38B3-CE49-B21D-A496D7EC2A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BE27A610-3BC0-BFBC-2A61-4C157B024EF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6C0E28B4-531C-D2E1-F3C9-B5A98A28B69D}"/>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C193347-3923-7F1F-A580-A7462B158EC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C5DDC20D-7BD0-E255-26F1-86A88AF67CF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9DBB21A1-CAFF-686E-D181-980219283F79}"/>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5531A9C5-B561-53EA-BF9A-3BE6A607C1B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D8870C21-3327-4D63-FD34-36BC479967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4D7C3EBE-FA20-7E4C-13DD-84F1A98618F6}"/>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C1E3AE62-1B2B-FE1E-010C-A26C4F613A6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CDA04BD5-C99C-980C-6593-EDEA378D6C3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77207A6-9552-432B-0793-EB6A88EE3C1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7447A1E-BA0C-26C0-C743-E590A55A653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8D425BCC-6A0F-30CB-18E7-D1E21E871D9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35F87FC1-4854-F9D4-8104-40945AD6A772}"/>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5" name="Group 35">
            <a:extLst>
              <a:ext uri="{FF2B5EF4-FFF2-40B4-BE49-F238E27FC236}">
                <a16:creationId xmlns:a16="http://schemas.microsoft.com/office/drawing/2014/main" id="{C7CF20EF-980A-2D88-E968-DCB5B8BC6CF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A7A686B7-4E4C-A5FA-60CD-A6EFF9DEAD8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3ECD8D52-6368-578C-BEB2-0B1BA37FD45D}"/>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638323CF-7DCB-075F-B739-0F88472F060D}"/>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1C891DAE-0877-CFF6-85FC-AA33C951AF0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98967" y="1416709"/>
            <a:ext cx="7559434" cy="4576956"/>
          </a:xfrm>
          <a:prstGeom prst="rect">
            <a:avLst/>
          </a:prstGeom>
        </p:spPr>
      </p:pic>
      <p:sp>
        <p:nvSpPr>
          <p:cNvPr id="39" name="TextBox 38">
            <a:extLst>
              <a:ext uri="{FF2B5EF4-FFF2-40B4-BE49-F238E27FC236}">
                <a16:creationId xmlns:a16="http://schemas.microsoft.com/office/drawing/2014/main" id="{1117535C-0099-E316-A883-933CF33C3231}"/>
              </a:ext>
            </a:extLst>
          </p:cNvPr>
          <p:cNvSpPr txBox="1"/>
          <p:nvPr/>
        </p:nvSpPr>
        <p:spPr>
          <a:xfrm>
            <a:off x="10667435" y="9606252"/>
            <a:ext cx="14210674" cy="523220"/>
          </a:xfrm>
          <a:prstGeom prst="rect">
            <a:avLst/>
          </a:prstGeom>
          <a:noFill/>
        </p:spPr>
        <p:txBody>
          <a:bodyPr wrap="square">
            <a:spAutoFit/>
          </a:bodyPr>
          <a:lstStyle/>
          <a:p>
            <a:r>
              <a:rPr lang="en-US" sz="2800" dirty="0">
                <a:latin typeface="Times New Roman" panose="02020603050405020304" pitchFamily="18" charset="0"/>
                <a:cs typeface="Times New Roman" panose="02020603050405020304" pitchFamily="18" charset="0"/>
              </a:rPr>
              <a:t> </a:t>
            </a:r>
            <a:endParaRPr lang="en-IN" sz="2800" dirty="0">
              <a:latin typeface="Times New Roman" panose="02020603050405020304" pitchFamily="18" charset="0"/>
              <a:cs typeface="Times New Roman" panose="02020603050405020304" pitchFamily="18" charset="0"/>
            </a:endParaRPr>
          </a:p>
        </p:txBody>
      </p:sp>
      <p:sp>
        <p:nvSpPr>
          <p:cNvPr id="41" name="TextBox 40">
            <a:extLst>
              <a:ext uri="{FF2B5EF4-FFF2-40B4-BE49-F238E27FC236}">
                <a16:creationId xmlns:a16="http://schemas.microsoft.com/office/drawing/2014/main" id="{D92C1979-957E-DF8B-A6A1-01B1FAA31671}"/>
              </a:ext>
            </a:extLst>
          </p:cNvPr>
          <p:cNvSpPr txBox="1"/>
          <p:nvPr/>
        </p:nvSpPr>
        <p:spPr>
          <a:xfrm>
            <a:off x="4217124" y="6044142"/>
            <a:ext cx="14210674" cy="523220"/>
          </a:xfrm>
          <a:prstGeom prst="rect">
            <a:avLst/>
          </a:prstGeom>
          <a:noFill/>
        </p:spPr>
        <p:txBody>
          <a:bodyPr wrap="square">
            <a:spAutoFit/>
          </a:bodyPr>
          <a:lstStyle/>
          <a:p>
            <a:r>
              <a:rPr lang="en-IN" sz="2800" dirty="0">
                <a:latin typeface="Times New Roman" panose="02020603050405020304" pitchFamily="18" charset="0"/>
                <a:cs typeface="Times New Roman" panose="02020603050405020304" pitchFamily="18" charset="0"/>
              </a:rPr>
              <a:t>Figure : Payment Page</a:t>
            </a:r>
          </a:p>
        </p:txBody>
      </p:sp>
    </p:spTree>
    <p:extLst>
      <p:ext uri="{BB962C8B-B14F-4D97-AF65-F5344CB8AC3E}">
        <p14:creationId xmlns:p14="http://schemas.microsoft.com/office/powerpoint/2010/main" val="475448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0152AA6E-1A8C-A42D-344E-C811AB58A618}"/>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EB7F1E1F-336A-607D-2868-6C57FF54EB44}"/>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63528BA9-EE0E-A6F8-4A8C-6DFC964B206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6E25C449-B344-E643-12F7-C89DEE4255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8(C)</a:t>
              </a:r>
            </a:p>
          </p:txBody>
        </p:sp>
      </p:grpSp>
      <p:grpSp>
        <p:nvGrpSpPr>
          <p:cNvPr id="10" name="Group 10">
            <a:extLst>
              <a:ext uri="{FF2B5EF4-FFF2-40B4-BE49-F238E27FC236}">
                <a16:creationId xmlns:a16="http://schemas.microsoft.com/office/drawing/2014/main" id="{4C22D2BC-F5CA-423B-6FD6-94172693045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F6670B32-1168-757A-3D40-FDD55687DCF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0D3BB7FD-57C6-C09A-D875-135D505A8E1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067A86AC-A2D1-3F33-5857-9F69983F71BB}"/>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D9EADC3C-D136-0700-9300-4D8E867EC53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A8EAD5F3-3FC4-819A-6ECD-0BC55C92A2B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1671F77B-B3A5-F8B6-AC67-6EF88CA95877}"/>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1303025A-EF3E-710E-2DBD-D89F29B8499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76E7D281-CC96-92C2-C2F7-583674F0609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E0D02FED-C5F4-9CC7-F1F5-E75E542840A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384D1E33-434F-2FA0-56CC-F24058D8639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F2FC0DCA-FB2A-610C-A8DB-76CE251A57D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4CA1DB61-05A2-042F-9815-00DBC40D0556}"/>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7E4E958-360B-28EF-052B-EDDBDD5F40F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BEDBF5CC-2720-E821-001C-11BCB7273E2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6B96629A-6996-B0D7-13D6-0FA011422666}"/>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912F1ED8-E3AD-E90A-10CE-D50A8F7D91A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00E45F23-6E8F-F601-2EB3-537A898E704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A40D6715-3580-0B1B-2305-C7ED6083AE85}"/>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11A59530-4B7F-6C6B-290E-578EA30200D0}"/>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9BDCE736-251A-5B70-853E-A0A9A174F36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8249BDCF-E07B-269B-D039-A4360C0FE2B4}"/>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6F6B04FD-3FAC-90A2-4C1A-D809D058C0A9}"/>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BEE5C092-697C-26F6-D6E0-477F151E7CAE}"/>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FF80FEAE-01A3-1956-FB30-BED14CA86273}"/>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5" name="Group 35">
            <a:extLst>
              <a:ext uri="{FF2B5EF4-FFF2-40B4-BE49-F238E27FC236}">
                <a16:creationId xmlns:a16="http://schemas.microsoft.com/office/drawing/2014/main" id="{2E8D2AB5-8B00-D9B4-469D-07CAE4ECF9C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F9F17E25-114F-438B-701A-7788D333F33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1C4B6667-B2EE-BA32-402F-04368D88D5C4}"/>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B953180-DB27-F046-86E3-E3508247B406}"/>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341A1FDE-E3AB-682A-64B7-DA145F23EB91}"/>
              </a:ext>
            </a:extLst>
          </p:cNvPr>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8" name="Picture 37">
            <a:extLst>
              <a:ext uri="{FF2B5EF4-FFF2-40B4-BE49-F238E27FC236}">
                <a16:creationId xmlns:a16="http://schemas.microsoft.com/office/drawing/2014/main" id="{18A726F5-FF85-8BF7-1CAA-992016D4CAF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29477" y="1413834"/>
            <a:ext cx="12774808" cy="8335538"/>
          </a:xfrm>
          <a:prstGeom prst="rect">
            <a:avLst/>
          </a:prstGeom>
        </p:spPr>
      </p:pic>
    </p:spTree>
    <p:extLst>
      <p:ext uri="{BB962C8B-B14F-4D97-AF65-F5344CB8AC3E}">
        <p14:creationId xmlns:p14="http://schemas.microsoft.com/office/powerpoint/2010/main" val="848899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42B8C803-807B-62E7-EBF0-EDA2230AF3C4}"/>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A7FBCFA6-E674-1E66-4212-4C8D67DE6CB2}"/>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DA26A2D0-0255-744F-AB3A-A5304F2DFDEE}"/>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C91D92DA-BABC-5E12-1D65-AF78A2484B18}"/>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8(C)</a:t>
              </a:r>
            </a:p>
          </p:txBody>
        </p:sp>
      </p:grpSp>
      <p:grpSp>
        <p:nvGrpSpPr>
          <p:cNvPr id="10" name="Group 10">
            <a:extLst>
              <a:ext uri="{FF2B5EF4-FFF2-40B4-BE49-F238E27FC236}">
                <a16:creationId xmlns:a16="http://schemas.microsoft.com/office/drawing/2014/main" id="{373BDBAC-01D9-876A-EB03-3778A90FDCF6}"/>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69FD2409-32EA-CD45-5625-962C0AB4C13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4E82D017-AA46-8CD6-C90F-A60D73E722A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D095D6B4-B721-98FE-D3F1-E4690ABD973F}"/>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69E85C14-6C48-55A4-B3BB-F878AEC40CB0}"/>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67423AED-0AD8-E5FC-3240-D97C5B2762A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77008307-1131-5C5A-8CC4-3848E90485EE}"/>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397A7EBF-566F-2347-B202-3AF2011ED60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9038E1FA-722D-D6CC-C72A-36677DB9B1C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53CB2F75-55DF-6928-9AB7-13A4BFD0CE4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0A7BBB65-8EEC-1524-0646-1372482E50B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B3462773-1C95-C18F-5A97-5C4C5F69337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7597636B-A531-99A1-5BAC-EE462F3DD4A7}"/>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731E7BD-3017-085D-AA3E-FE6B875E277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A8A70A27-AFEE-A50F-2F3D-9C60C012272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27573D08-C4B9-5CA0-0879-B60074C0AA5E}"/>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1DD07001-729A-D0A4-E23E-ABAE8885174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A7C7CB47-DEBF-7DD6-8A7A-7178D3957E8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7D0589FC-AFA8-5E6E-EDB5-61BDE4E7D280}"/>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DA430C5F-E37A-9D91-723B-FC3B90765E7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8C36B4F0-56B9-A06B-6506-BEEE5AAC12B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CD8F677B-B82B-BDC2-5A45-C4150DED1519}"/>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331820B3-1052-A297-B861-158487E5C1A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2B4D4627-BB72-9D87-0DA9-53E86B5C8AC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66D28532-9E8E-E625-49A2-D51BCBB450C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5" name="Group 35">
            <a:extLst>
              <a:ext uri="{FF2B5EF4-FFF2-40B4-BE49-F238E27FC236}">
                <a16:creationId xmlns:a16="http://schemas.microsoft.com/office/drawing/2014/main" id="{CDBECB42-0E33-5F26-181E-D80F08FF3A5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0C7B3C9D-FDBF-EF2A-FD8C-47345FBE5238}"/>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B32F0B66-894C-6E2B-A17E-B0DE8FFAB7DA}"/>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271A5D92-158E-45C4-2B33-59866741482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1ABEB63E-D38C-B099-195A-2310B0DDB998}"/>
              </a:ext>
            </a:extLst>
          </p:cNvPr>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id="{6CCF46DD-5775-C698-104F-4C46DD3F82F8}"/>
              </a:ext>
            </a:extLst>
          </p:cNvPr>
          <p:cNvPicPr>
            <a:picLocks noChangeAspect="1"/>
          </p:cNvPicPr>
          <p:nvPr/>
        </p:nvPicPr>
        <p:blipFill>
          <a:blip r:embed="rId3"/>
          <a:srcRect l="13677" t="10611" r="43080" b="38405"/>
          <a:stretch>
            <a:fillRect/>
          </a:stretch>
        </p:blipFill>
        <p:spPr>
          <a:xfrm>
            <a:off x="2052800" y="1173897"/>
            <a:ext cx="6063028" cy="4020911"/>
          </a:xfrm>
          <a:prstGeom prst="rect">
            <a:avLst/>
          </a:prstGeom>
        </p:spPr>
      </p:pic>
      <p:pic>
        <p:nvPicPr>
          <p:cNvPr id="4" name="Picture 3">
            <a:extLst>
              <a:ext uri="{FF2B5EF4-FFF2-40B4-BE49-F238E27FC236}">
                <a16:creationId xmlns:a16="http://schemas.microsoft.com/office/drawing/2014/main" id="{33C6715F-59CA-D37F-AEA5-717CBE046C1D}"/>
              </a:ext>
            </a:extLst>
          </p:cNvPr>
          <p:cNvPicPr>
            <a:picLocks noChangeAspect="1"/>
          </p:cNvPicPr>
          <p:nvPr/>
        </p:nvPicPr>
        <p:blipFill>
          <a:blip r:embed="rId4"/>
          <a:srcRect l="13587" t="11412" r="54577" b="46033"/>
          <a:stretch>
            <a:fillRect/>
          </a:stretch>
        </p:blipFill>
        <p:spPr>
          <a:xfrm>
            <a:off x="9057924" y="1146935"/>
            <a:ext cx="5822101" cy="4377565"/>
          </a:xfrm>
          <a:prstGeom prst="rect">
            <a:avLst/>
          </a:prstGeom>
        </p:spPr>
      </p:pic>
      <p:pic>
        <p:nvPicPr>
          <p:cNvPr id="6" name="Picture 5">
            <a:extLst>
              <a:ext uri="{FF2B5EF4-FFF2-40B4-BE49-F238E27FC236}">
                <a16:creationId xmlns:a16="http://schemas.microsoft.com/office/drawing/2014/main" id="{5AD85082-9805-A711-8183-C4036D2CF3DE}"/>
              </a:ext>
            </a:extLst>
          </p:cNvPr>
          <p:cNvPicPr>
            <a:picLocks noChangeAspect="1"/>
          </p:cNvPicPr>
          <p:nvPr/>
        </p:nvPicPr>
        <p:blipFill>
          <a:blip r:embed="rId5"/>
          <a:srcRect l="13408" t="12299" r="48941" b="39630"/>
          <a:stretch>
            <a:fillRect/>
          </a:stretch>
        </p:blipFill>
        <p:spPr>
          <a:xfrm>
            <a:off x="4258043" y="5659211"/>
            <a:ext cx="6249664" cy="4488376"/>
          </a:xfrm>
          <a:prstGeom prst="rect">
            <a:avLst/>
          </a:prstGeom>
        </p:spPr>
      </p:pic>
    </p:spTree>
    <p:extLst>
      <p:ext uri="{BB962C8B-B14F-4D97-AF65-F5344CB8AC3E}">
        <p14:creationId xmlns:p14="http://schemas.microsoft.com/office/powerpoint/2010/main" val="11395512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93EBAB55-7601-3C41-6F10-EE0F67F7766F}"/>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B9E2C662-B058-485B-BFC3-199F93F6D154}"/>
              </a:ext>
            </a:extLst>
          </p:cNvPr>
          <p:cNvGrpSpPr/>
          <p:nvPr/>
        </p:nvGrpSpPr>
        <p:grpSpPr>
          <a:xfrm>
            <a:off x="735588" y="7321525"/>
            <a:ext cx="992463" cy="992463"/>
            <a:chOff x="0" y="0"/>
            <a:chExt cx="812800" cy="812800"/>
          </a:xfrm>
        </p:grpSpPr>
        <p:sp>
          <p:nvSpPr>
            <p:cNvPr id="6" name="Freeform 6">
              <a:extLst>
                <a:ext uri="{FF2B5EF4-FFF2-40B4-BE49-F238E27FC236}">
                  <a16:creationId xmlns:a16="http://schemas.microsoft.com/office/drawing/2014/main" id="{F125CA7A-BCD4-5B7F-7069-AE7F5BD10A9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a:extLst>
                <a:ext uri="{FF2B5EF4-FFF2-40B4-BE49-F238E27FC236}">
                  <a16:creationId xmlns:a16="http://schemas.microsoft.com/office/drawing/2014/main" id="{07E08158-57E2-530C-A7FD-5AF72088CF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9</a:t>
              </a:r>
            </a:p>
          </p:txBody>
        </p:sp>
      </p:grpSp>
      <p:grpSp>
        <p:nvGrpSpPr>
          <p:cNvPr id="8" name="Group 8">
            <a:extLst>
              <a:ext uri="{FF2B5EF4-FFF2-40B4-BE49-F238E27FC236}">
                <a16:creationId xmlns:a16="http://schemas.microsoft.com/office/drawing/2014/main" id="{CB09EB64-B1EE-DA7A-E7DC-97163FE53167}"/>
              </a:ext>
            </a:extLst>
          </p:cNvPr>
          <p:cNvGrpSpPr/>
          <p:nvPr/>
        </p:nvGrpSpPr>
        <p:grpSpPr>
          <a:xfrm>
            <a:off x="977741" y="3315742"/>
            <a:ext cx="508158" cy="543805"/>
            <a:chOff x="0" y="0"/>
            <a:chExt cx="812800" cy="869819"/>
          </a:xfrm>
        </p:grpSpPr>
        <p:sp>
          <p:nvSpPr>
            <p:cNvPr id="9" name="Freeform 9">
              <a:extLst>
                <a:ext uri="{FF2B5EF4-FFF2-40B4-BE49-F238E27FC236}">
                  <a16:creationId xmlns:a16="http://schemas.microsoft.com/office/drawing/2014/main" id="{4B04A57D-53E9-134E-70C7-51485932A21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a:extLst>
                <a:ext uri="{FF2B5EF4-FFF2-40B4-BE49-F238E27FC236}">
                  <a16:creationId xmlns:a16="http://schemas.microsoft.com/office/drawing/2014/main" id="{AC0A25AD-0459-BAEA-2E7B-0D9279AE1BC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a:extLst>
              <a:ext uri="{FF2B5EF4-FFF2-40B4-BE49-F238E27FC236}">
                <a16:creationId xmlns:a16="http://schemas.microsoft.com/office/drawing/2014/main" id="{E0EBC171-BEE8-2D5E-8755-EE50B2570259}"/>
              </a:ext>
            </a:extLst>
          </p:cNvPr>
          <p:cNvGrpSpPr/>
          <p:nvPr/>
        </p:nvGrpSpPr>
        <p:grpSpPr>
          <a:xfrm>
            <a:off x="977741" y="1982349"/>
            <a:ext cx="508158" cy="543805"/>
            <a:chOff x="0" y="0"/>
            <a:chExt cx="812800" cy="869819"/>
          </a:xfrm>
        </p:grpSpPr>
        <p:sp>
          <p:nvSpPr>
            <p:cNvPr id="12" name="Freeform 12">
              <a:extLst>
                <a:ext uri="{FF2B5EF4-FFF2-40B4-BE49-F238E27FC236}">
                  <a16:creationId xmlns:a16="http://schemas.microsoft.com/office/drawing/2014/main" id="{E4000A93-AB8F-B573-E218-7434988FD58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a:extLst>
                <a:ext uri="{FF2B5EF4-FFF2-40B4-BE49-F238E27FC236}">
                  <a16:creationId xmlns:a16="http://schemas.microsoft.com/office/drawing/2014/main" id="{1228826C-BC2E-0DA0-107F-341F9D1A494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a:extLst>
              <a:ext uri="{FF2B5EF4-FFF2-40B4-BE49-F238E27FC236}">
                <a16:creationId xmlns:a16="http://schemas.microsoft.com/office/drawing/2014/main" id="{7FD594E4-E181-FD3B-1C72-DE2D718C274A}"/>
              </a:ext>
            </a:extLst>
          </p:cNvPr>
          <p:cNvGrpSpPr/>
          <p:nvPr/>
        </p:nvGrpSpPr>
        <p:grpSpPr>
          <a:xfrm>
            <a:off x="977741" y="3983373"/>
            <a:ext cx="508158" cy="543805"/>
            <a:chOff x="0" y="0"/>
            <a:chExt cx="812800" cy="869819"/>
          </a:xfrm>
        </p:grpSpPr>
        <p:sp>
          <p:nvSpPr>
            <p:cNvPr id="15" name="Freeform 15">
              <a:extLst>
                <a:ext uri="{FF2B5EF4-FFF2-40B4-BE49-F238E27FC236}">
                  <a16:creationId xmlns:a16="http://schemas.microsoft.com/office/drawing/2014/main" id="{C16DA90C-521A-EFE9-8EE9-CB3967A5095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a:extLst>
                <a:ext uri="{FF2B5EF4-FFF2-40B4-BE49-F238E27FC236}">
                  <a16:creationId xmlns:a16="http://schemas.microsoft.com/office/drawing/2014/main" id="{5A678428-7466-DB88-0126-41232DE4A0D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a:extLst>
              <a:ext uri="{FF2B5EF4-FFF2-40B4-BE49-F238E27FC236}">
                <a16:creationId xmlns:a16="http://schemas.microsoft.com/office/drawing/2014/main" id="{91D279A8-BDAA-B12E-DD4B-9978E9D5005C}"/>
              </a:ext>
            </a:extLst>
          </p:cNvPr>
          <p:cNvGrpSpPr/>
          <p:nvPr/>
        </p:nvGrpSpPr>
        <p:grpSpPr>
          <a:xfrm>
            <a:off x="977741" y="2648112"/>
            <a:ext cx="508158" cy="543805"/>
            <a:chOff x="0" y="0"/>
            <a:chExt cx="812800" cy="869819"/>
          </a:xfrm>
        </p:grpSpPr>
        <p:sp>
          <p:nvSpPr>
            <p:cNvPr id="18" name="Freeform 18">
              <a:extLst>
                <a:ext uri="{FF2B5EF4-FFF2-40B4-BE49-F238E27FC236}">
                  <a16:creationId xmlns:a16="http://schemas.microsoft.com/office/drawing/2014/main" id="{308F1BB3-7F58-DE0C-71F1-9782E09061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a:extLst>
                <a:ext uri="{FF2B5EF4-FFF2-40B4-BE49-F238E27FC236}">
                  <a16:creationId xmlns:a16="http://schemas.microsoft.com/office/drawing/2014/main" id="{35F43F9B-B904-0414-7AA7-1E7959C4C9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a:extLst>
              <a:ext uri="{FF2B5EF4-FFF2-40B4-BE49-F238E27FC236}">
                <a16:creationId xmlns:a16="http://schemas.microsoft.com/office/drawing/2014/main" id="{311E9EBB-A9CE-A64F-FF44-F82C0D52AC32}"/>
              </a:ext>
            </a:extLst>
          </p:cNvPr>
          <p:cNvGrpSpPr/>
          <p:nvPr/>
        </p:nvGrpSpPr>
        <p:grpSpPr>
          <a:xfrm>
            <a:off x="977741" y="5318634"/>
            <a:ext cx="508158" cy="543805"/>
            <a:chOff x="0" y="0"/>
            <a:chExt cx="812800" cy="869819"/>
          </a:xfrm>
        </p:grpSpPr>
        <p:sp>
          <p:nvSpPr>
            <p:cNvPr id="21" name="Freeform 21">
              <a:extLst>
                <a:ext uri="{FF2B5EF4-FFF2-40B4-BE49-F238E27FC236}">
                  <a16:creationId xmlns:a16="http://schemas.microsoft.com/office/drawing/2014/main" id="{DED3A9EA-E50F-553B-EDAA-87F95FD2280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a:extLst>
                <a:ext uri="{FF2B5EF4-FFF2-40B4-BE49-F238E27FC236}">
                  <a16:creationId xmlns:a16="http://schemas.microsoft.com/office/drawing/2014/main" id="{7E9C7CEA-D993-4107-0776-54AC90E2062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3" name="Group 23">
            <a:extLst>
              <a:ext uri="{FF2B5EF4-FFF2-40B4-BE49-F238E27FC236}">
                <a16:creationId xmlns:a16="http://schemas.microsoft.com/office/drawing/2014/main" id="{7B397A27-1CC9-9661-DA24-10B3E1042399}"/>
              </a:ext>
            </a:extLst>
          </p:cNvPr>
          <p:cNvGrpSpPr/>
          <p:nvPr/>
        </p:nvGrpSpPr>
        <p:grpSpPr>
          <a:xfrm>
            <a:off x="977741" y="4651003"/>
            <a:ext cx="508158" cy="543805"/>
            <a:chOff x="0" y="0"/>
            <a:chExt cx="812800" cy="869819"/>
          </a:xfrm>
        </p:grpSpPr>
        <p:sp>
          <p:nvSpPr>
            <p:cNvPr id="24" name="Freeform 24">
              <a:extLst>
                <a:ext uri="{FF2B5EF4-FFF2-40B4-BE49-F238E27FC236}">
                  <a16:creationId xmlns:a16="http://schemas.microsoft.com/office/drawing/2014/main" id="{2A8CD899-9C63-11A3-805F-4CA0E12C7CB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a:extLst>
                <a:ext uri="{FF2B5EF4-FFF2-40B4-BE49-F238E27FC236}">
                  <a16:creationId xmlns:a16="http://schemas.microsoft.com/office/drawing/2014/main" id="{1976C224-9A36-532E-5E8B-B738C9FBC3F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6" name="Group 26">
            <a:extLst>
              <a:ext uri="{FF2B5EF4-FFF2-40B4-BE49-F238E27FC236}">
                <a16:creationId xmlns:a16="http://schemas.microsoft.com/office/drawing/2014/main" id="{E8CFE39F-6666-6E69-8980-5B55F6D56478}"/>
              </a:ext>
            </a:extLst>
          </p:cNvPr>
          <p:cNvGrpSpPr/>
          <p:nvPr/>
        </p:nvGrpSpPr>
        <p:grpSpPr>
          <a:xfrm>
            <a:off x="977741" y="5986264"/>
            <a:ext cx="508158" cy="543805"/>
            <a:chOff x="0" y="0"/>
            <a:chExt cx="812800" cy="869819"/>
          </a:xfrm>
        </p:grpSpPr>
        <p:sp>
          <p:nvSpPr>
            <p:cNvPr id="27" name="Freeform 27">
              <a:extLst>
                <a:ext uri="{FF2B5EF4-FFF2-40B4-BE49-F238E27FC236}">
                  <a16:creationId xmlns:a16="http://schemas.microsoft.com/office/drawing/2014/main" id="{F859737D-AFDF-BDFC-6651-3B954F2DD4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a:extLst>
                <a:ext uri="{FF2B5EF4-FFF2-40B4-BE49-F238E27FC236}">
                  <a16:creationId xmlns:a16="http://schemas.microsoft.com/office/drawing/2014/main" id="{B7B59B44-AD68-1549-9F86-A09D82459B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a:extLst>
              <a:ext uri="{FF2B5EF4-FFF2-40B4-BE49-F238E27FC236}">
                <a16:creationId xmlns:a16="http://schemas.microsoft.com/office/drawing/2014/main" id="{3FACABC2-D51C-1EF5-0D1B-34B410283F2E}"/>
              </a:ext>
            </a:extLst>
          </p:cNvPr>
          <p:cNvGrpSpPr/>
          <p:nvPr/>
        </p:nvGrpSpPr>
        <p:grpSpPr>
          <a:xfrm>
            <a:off x="977741" y="6653894"/>
            <a:ext cx="508158" cy="543805"/>
            <a:chOff x="0" y="0"/>
            <a:chExt cx="812800" cy="869819"/>
          </a:xfrm>
        </p:grpSpPr>
        <p:sp>
          <p:nvSpPr>
            <p:cNvPr id="30" name="Freeform 30">
              <a:extLst>
                <a:ext uri="{FF2B5EF4-FFF2-40B4-BE49-F238E27FC236}">
                  <a16:creationId xmlns:a16="http://schemas.microsoft.com/office/drawing/2014/main" id="{6DD43112-BD1E-86D9-D9C6-3C97559FC56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a:extLst>
                <a:ext uri="{FF2B5EF4-FFF2-40B4-BE49-F238E27FC236}">
                  <a16:creationId xmlns:a16="http://schemas.microsoft.com/office/drawing/2014/main" id="{C34845E4-4A4B-0A81-5A55-14004816579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sp>
        <p:nvSpPr>
          <p:cNvPr id="32" name="Freeform 32">
            <a:extLst>
              <a:ext uri="{FF2B5EF4-FFF2-40B4-BE49-F238E27FC236}">
                <a16:creationId xmlns:a16="http://schemas.microsoft.com/office/drawing/2014/main" id="{05CB8E9D-B497-44FF-DB18-7D166BD2DA61}"/>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6" name="TextBox 46">
            <a:extLst>
              <a:ext uri="{FF2B5EF4-FFF2-40B4-BE49-F238E27FC236}">
                <a16:creationId xmlns:a16="http://schemas.microsoft.com/office/drawing/2014/main" id="{FA405478-0BA8-4A85-A81A-B9346174FE61}"/>
              </a:ext>
            </a:extLst>
          </p:cNvPr>
          <p:cNvSpPr txBox="1"/>
          <p:nvPr/>
        </p:nvSpPr>
        <p:spPr>
          <a:xfrm>
            <a:off x="17817087" y="290493"/>
            <a:ext cx="8932970" cy="9319492"/>
          </a:xfrm>
          <a:prstGeom prst="rect">
            <a:avLst/>
          </a:prstGeom>
        </p:spPr>
        <p:txBody>
          <a:bodyPr lIns="50800" tIns="50800" rIns="50800" bIns="50800" rtlCol="0" anchor="ctr"/>
          <a:lstStyle/>
          <a:p>
            <a:pPr algn="ctr">
              <a:lnSpc>
                <a:spcPts val="2659"/>
              </a:lnSpc>
            </a:pPr>
            <a:endParaRPr/>
          </a:p>
        </p:txBody>
      </p:sp>
      <p:sp>
        <p:nvSpPr>
          <p:cNvPr id="2" name="TextBox 1">
            <a:extLst>
              <a:ext uri="{FF2B5EF4-FFF2-40B4-BE49-F238E27FC236}">
                <a16:creationId xmlns:a16="http://schemas.microsoft.com/office/drawing/2014/main" id="{BC926643-39EA-932E-6755-230476B3078D}"/>
              </a:ext>
            </a:extLst>
          </p:cNvPr>
          <p:cNvSpPr txBox="1"/>
          <p:nvPr/>
        </p:nvSpPr>
        <p:spPr>
          <a:xfrm>
            <a:off x="190500" y="290493"/>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ADVANTAGES &amp; LIMITATIONS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A85DA98C-EF64-4FC9-6D49-B83F896B1B65}"/>
              </a:ext>
            </a:extLst>
          </p:cNvPr>
          <p:cNvSpPr txBox="1"/>
          <p:nvPr/>
        </p:nvSpPr>
        <p:spPr>
          <a:xfrm>
            <a:off x="2480478" y="2117190"/>
            <a:ext cx="14051280" cy="6555641"/>
          </a:xfrm>
          <a:prstGeom prst="rect">
            <a:avLst/>
          </a:prstGeom>
          <a:noFill/>
        </p:spPr>
        <p:txBody>
          <a:bodyPr wrap="square">
            <a:spAutoFit/>
          </a:bodyPr>
          <a:lstStyle/>
          <a:p>
            <a:pPr marL="457200" indent="-457200">
              <a:buFont typeface="Wingdings" panose="05000000000000000000" pitchFamily="2" charset="2"/>
              <a:buChar char="q"/>
            </a:pPr>
            <a:r>
              <a:rPr lang="en-US" sz="2800" b="1" dirty="0">
                <a:latin typeface="Times New Roman" panose="02020603050405020304" pitchFamily="18" charset="0"/>
                <a:cs typeface="Times New Roman" panose="02020603050405020304" pitchFamily="18" charset="0"/>
              </a:rPr>
              <a:t>Advantages:</a:t>
            </a:r>
          </a:p>
          <a:p>
            <a:endParaRPr lang="en-US" sz="2800" dirty="0">
              <a:latin typeface="Times New Roman" panose="02020603050405020304" pitchFamily="18" charset="0"/>
              <a:cs typeface="Times New Roman" panose="02020603050405020304" pitchFamily="18" charset="0"/>
            </a:endParaRPr>
          </a:p>
          <a:p>
            <a:pPr>
              <a:buNone/>
            </a:pPr>
            <a:endParaRPr lang="en-US" sz="2800" b="1" dirty="0">
              <a:latin typeface="Times New Roman" panose="02020603050405020304" pitchFamily="18" charset="0"/>
              <a:cs typeface="Times New Roman" panose="02020603050405020304" pitchFamily="18" charset="0"/>
            </a:endParaRPr>
          </a:p>
          <a:p>
            <a:pPr>
              <a:buNone/>
            </a:pPr>
            <a:endParaRPr lang="en-US" sz="2800" b="1" dirty="0">
              <a:latin typeface="Times New Roman" panose="02020603050405020304" pitchFamily="18" charset="0"/>
              <a:cs typeface="Times New Roman" panose="02020603050405020304" pitchFamily="18" charset="0"/>
            </a:endParaRPr>
          </a:p>
          <a:p>
            <a:pPr>
              <a:buNone/>
            </a:pPr>
            <a:endParaRPr lang="en-US" sz="2800" b="1" dirty="0">
              <a:latin typeface="Times New Roman" panose="02020603050405020304" pitchFamily="18" charset="0"/>
              <a:cs typeface="Times New Roman" panose="02020603050405020304" pitchFamily="18" charset="0"/>
            </a:endParaRPr>
          </a:p>
          <a:p>
            <a:pPr>
              <a:buNone/>
            </a:pPr>
            <a:endParaRPr lang="en-US" sz="2800" b="1" dirty="0">
              <a:latin typeface="Times New Roman" panose="02020603050405020304" pitchFamily="18" charset="0"/>
              <a:cs typeface="Times New Roman" panose="02020603050405020304" pitchFamily="18" charset="0"/>
            </a:endParaRPr>
          </a:p>
          <a:p>
            <a:pPr>
              <a:buNone/>
            </a:pPr>
            <a:endParaRPr lang="en-US" sz="2800" b="1" dirty="0">
              <a:latin typeface="Times New Roman" panose="02020603050405020304" pitchFamily="18" charset="0"/>
              <a:cs typeface="Times New Roman" panose="02020603050405020304" pitchFamily="18" charset="0"/>
            </a:endParaRPr>
          </a:p>
          <a:p>
            <a:pPr>
              <a:buNone/>
            </a:pPr>
            <a:endParaRPr lang="en-US" sz="2800" b="1" dirty="0">
              <a:latin typeface="Times New Roman" panose="02020603050405020304" pitchFamily="18" charset="0"/>
              <a:cs typeface="Times New Roman" panose="02020603050405020304" pitchFamily="18" charset="0"/>
            </a:endParaRPr>
          </a:p>
          <a:p>
            <a:pPr>
              <a:buNone/>
            </a:pPr>
            <a:endParaRPr lang="en-US" sz="2800" b="1" dirty="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q"/>
            </a:pPr>
            <a:r>
              <a:rPr lang="en-US" sz="2800" b="1" dirty="0">
                <a:latin typeface="Times New Roman" panose="02020603050405020304" pitchFamily="18" charset="0"/>
                <a:cs typeface="Times New Roman" panose="02020603050405020304" pitchFamily="18" charset="0"/>
              </a:rPr>
              <a:t>Limitations:</a:t>
            </a: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No real payment gateway</a:t>
            </a: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No database </a:t>
            </a: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Single admin system</a:t>
            </a: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No authentication security</a:t>
            </a:r>
            <a:endParaRPr lang="en-US" sz="2800" b="1" dirty="0">
              <a:latin typeface="Times New Roman" panose="02020603050405020304" pitchFamily="18" charset="0"/>
              <a:cs typeface="Times New Roman" panose="02020603050405020304" pitchFamily="18" charset="0"/>
            </a:endParaRPr>
          </a:p>
          <a:p>
            <a:pPr>
              <a:buNone/>
            </a:pPr>
            <a:endParaRPr lang="en-US" sz="2800" b="1" dirty="0">
              <a:latin typeface="Times New Roman" panose="02020603050405020304" pitchFamily="18" charset="0"/>
              <a:cs typeface="Times New Roman" panose="02020603050405020304" pitchFamily="18" charset="0"/>
            </a:endParaRPr>
          </a:p>
        </p:txBody>
      </p:sp>
      <p:sp>
        <p:nvSpPr>
          <p:cNvPr id="3" name="Rectangle 1">
            <a:extLst>
              <a:ext uri="{FF2B5EF4-FFF2-40B4-BE49-F238E27FC236}">
                <a16:creationId xmlns:a16="http://schemas.microsoft.com/office/drawing/2014/main" id="{2B245D77-6823-5EEC-FDC6-E2A6D9E2945C}"/>
              </a:ext>
            </a:extLst>
          </p:cNvPr>
          <p:cNvSpPr>
            <a:spLocks noChangeArrowheads="1"/>
          </p:cNvSpPr>
          <p:nvPr/>
        </p:nvSpPr>
        <p:spPr bwMode="auto">
          <a:xfrm>
            <a:off x="2480478" y="3048393"/>
            <a:ext cx="4035977"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457200" lvl="0" indent="-457200" eaLnBrk="0" fontAlgn="base" hangingPunct="0">
              <a:spcBef>
                <a:spcPct val="0"/>
              </a:spcBef>
              <a:spcAft>
                <a:spcPct val="0"/>
              </a:spcAft>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Easy ticket booking</a:t>
            </a:r>
            <a:endParaRPr lang="en-US" sz="2800" dirty="0">
              <a:latin typeface="Times New Roman" panose="02020603050405020304" pitchFamily="18" charset="0"/>
              <a:cs typeface="Times New Roman" panose="02020603050405020304" pitchFamily="18" charset="0"/>
            </a:endParaRPr>
          </a:p>
          <a:p>
            <a:pPr marL="457200" lvl="0" indent="-457200" eaLnBrk="0" fontAlgn="base" hangingPunct="0">
              <a:spcBef>
                <a:spcPct val="0"/>
              </a:spcBef>
              <a:spcAft>
                <a:spcPct val="0"/>
              </a:spcAft>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Centralized system</a:t>
            </a:r>
          </a:p>
          <a:p>
            <a:pPr marL="457200" lvl="0" indent="-457200" eaLnBrk="0" fontAlgn="base" hangingPunct="0">
              <a:spcBef>
                <a:spcPct val="0"/>
              </a:spcBef>
              <a:spcAft>
                <a:spcPct val="0"/>
              </a:spcAft>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Admin control</a:t>
            </a:r>
          </a:p>
          <a:p>
            <a:pPr marL="457200" lvl="0" indent="-457200" eaLnBrk="0" fontAlgn="base" hangingPunct="0">
              <a:spcBef>
                <a:spcPct val="0"/>
              </a:spcBef>
              <a:spcAft>
                <a:spcPct val="0"/>
              </a:spcAft>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Real-time event display</a:t>
            </a:r>
          </a:p>
          <a:p>
            <a:pPr marL="457200" lvl="0" indent="-457200" eaLnBrk="0" fontAlgn="base" hangingPunct="0">
              <a:spcBef>
                <a:spcPct val="0"/>
              </a:spcBef>
              <a:spcAft>
                <a:spcPct val="0"/>
              </a:spcAft>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Simple UI</a:t>
            </a: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389767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32" name="Freeform 32"/>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3" name="TextBox 43"/>
          <p:cNvSpPr txBox="1"/>
          <p:nvPr/>
        </p:nvSpPr>
        <p:spPr>
          <a:xfrm>
            <a:off x="3200400" y="4486172"/>
            <a:ext cx="11159653" cy="1314655"/>
          </a:xfrm>
          <a:prstGeom prst="rect">
            <a:avLst/>
          </a:prstGeom>
        </p:spPr>
        <p:txBody>
          <a:bodyPr wrap="square" lIns="0" tIns="0" rIns="0" bIns="0" rtlCol="0" anchor="t">
            <a:spAutoFit/>
          </a:bodyPr>
          <a:lstStyle/>
          <a:p>
            <a:pPr algn="ctr">
              <a:lnSpc>
                <a:spcPts val="10149"/>
              </a:lnSpc>
            </a:pPr>
            <a:r>
              <a:rPr lang="en-US" sz="11153" b="1" i="1" dirty="0">
                <a:solidFill>
                  <a:srgbClr val="191919"/>
                </a:solidFill>
                <a:latin typeface="Gotham Bold Italics"/>
                <a:ea typeface="Gotham Bold Italics"/>
                <a:cs typeface="Gotham Bold Italics"/>
                <a:sym typeface="Gotham Bold Italics"/>
              </a:rPr>
              <a:t>Thank you</a:t>
            </a:r>
          </a:p>
        </p:txBody>
      </p:sp>
      <p:grpSp>
        <p:nvGrpSpPr>
          <p:cNvPr id="44" name="Group 44"/>
          <p:cNvGrpSpPr/>
          <p:nvPr/>
        </p:nvGrpSpPr>
        <p:grpSpPr>
          <a:xfrm>
            <a:off x="16786360" y="-353712"/>
            <a:ext cx="10994424" cy="10994424"/>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715</TotalTime>
  <Words>792</Words>
  <Application>Microsoft Office PowerPoint</Application>
  <PresentationFormat>Custom</PresentationFormat>
  <Paragraphs>263</Paragraphs>
  <Slides>16</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16</vt:i4>
      </vt:variant>
    </vt:vector>
  </HeadingPairs>
  <TitlesOfParts>
    <vt:vector size="24" baseType="lpstr">
      <vt:lpstr>Times New Roman</vt:lpstr>
      <vt:lpstr>Gotham Bold Italics</vt:lpstr>
      <vt:lpstr>Wingdings</vt:lpstr>
      <vt:lpstr>Calibri</vt:lpstr>
      <vt:lpstr>Arial</vt:lpstr>
      <vt:lpstr>Cambria</vt:lpstr>
      <vt:lpstr>Gotham</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Orange Simple Portfolio Presentation</dc:title>
  <dc:creator>H P</dc:creator>
  <cp:lastModifiedBy>Pravallika Sankepalle</cp:lastModifiedBy>
  <cp:revision>24</cp:revision>
  <dcterms:created xsi:type="dcterms:W3CDTF">2006-08-16T00:00:00Z</dcterms:created>
  <dcterms:modified xsi:type="dcterms:W3CDTF">2026-05-06T06:13:49Z</dcterms:modified>
  <dc:identifier>DAHCaYqJ9OU</dc:identifier>
</cp:coreProperties>
</file>