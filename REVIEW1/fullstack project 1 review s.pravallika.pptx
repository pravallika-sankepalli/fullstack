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0538ED-DB5C-41CF-9DDC-C41D4DD2C1C5}" v="11" dt="2026-03-09T16:45:11.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p:scale>
          <a:sx n="50" d="100"/>
          <a:sy n="50" d="100"/>
        </p:scale>
        <p:origin x="946" y="1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IN" sz="3200" b="1" dirty="0">
                <a:solidFill>
                  <a:srgbClr val="0033CC"/>
                </a:solidFill>
                <a:latin typeface="Times New Roman" panose="02020603050405020304" pitchFamily="18" charset="0"/>
                <a:cs typeface="Times New Roman" panose="02020603050405020304" pitchFamily="18" charset="0"/>
              </a:rPr>
              <a:t>Real-Time Event Synchronization Engine </a:t>
            </a: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IN" sz="3000" dirty="0" err="1">
                <a:latin typeface="Cambria" panose="02040503050406030204" pitchFamily="18" charset="0"/>
                <a:ea typeface="Cambria" panose="02040503050406030204" pitchFamily="18" charset="0"/>
              </a:rPr>
              <a:t>s.pravallika</a:t>
            </a:r>
            <a:r>
              <a:rPr lang="en-US" sz="3000" dirty="0">
                <a:latin typeface="Cambria" panose="02040503050406030204" pitchFamily="18" charset="0"/>
                <a:ea typeface="Cambria" panose="02040503050406030204" pitchFamily="18" charset="0"/>
              </a:rPr>
              <a:t> – VTU</a:t>
            </a:r>
            <a:r>
              <a:rPr lang="en-IN" altLang="en-US" sz="3000" dirty="0">
                <a:latin typeface="Cambria" panose="02040503050406030204" pitchFamily="18" charset="0"/>
                <a:ea typeface="Cambria" panose="02040503050406030204" pitchFamily="18" charset="0"/>
              </a:rPr>
              <a:t>25243</a:t>
            </a:r>
            <a:r>
              <a:rPr lang="en-US" sz="3000" dirty="0">
                <a:latin typeface="Cambria" panose="02040503050406030204" pitchFamily="18" charset="0"/>
                <a:ea typeface="Cambria" panose="02040503050406030204" pitchFamily="18" charset="0"/>
              </a:rPr>
              <a:t> – </a:t>
            </a:r>
            <a:r>
              <a:rPr lang="en-IN" altLang="en-US" sz="3000" dirty="0">
                <a:latin typeface="Cambria" panose="02040503050406030204" pitchFamily="18" charset="0"/>
                <a:ea typeface="Cambria" panose="02040503050406030204" pitchFamily="18" charset="0"/>
              </a:rPr>
              <a:t>23UECS0510</a:t>
            </a:r>
          </a:p>
        </p:txBody>
      </p:sp>
      <p:sp>
        <p:nvSpPr>
          <p:cNvPr id="15" name="TextBox 14"/>
          <p:cNvSpPr txBox="1"/>
          <p:nvPr/>
        </p:nvSpPr>
        <p:spPr>
          <a:xfrm>
            <a:off x="10945035" y="7818586"/>
            <a:ext cx="6914603" cy="277665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a:t>
            </a:r>
            <a:r>
              <a:rPr lang="en-US" sz="3000" dirty="0" err="1">
                <a:latin typeface="Cambria" panose="02040503050406030204" pitchFamily="18" charset="0"/>
                <a:ea typeface="Cambria" panose="02040503050406030204" pitchFamily="18" charset="0"/>
              </a:rPr>
              <a:t>Assistant.Professor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(Sr Grade)-</a:t>
            </a:r>
            <a:r>
              <a:rPr lang="en-US" sz="3000" dirty="0" err="1">
                <a:latin typeface="Cambria" panose="02040503050406030204" pitchFamily="18" charset="0"/>
                <a:ea typeface="Cambria" panose="02040503050406030204" pitchFamily="18" charset="0"/>
              </a:rPr>
              <a:t>M.E,ph.D</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39878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IN" altLang="en-US" sz="2000" b="1" dirty="0">
                <a:latin typeface="Cambria" panose="02040503050406030204" pitchFamily="18" charset="0"/>
                <a:ea typeface="Cambria" panose="02040503050406030204" pitchFamily="18" charset="0"/>
              </a:rPr>
              <a:t>9-Industry,Innovation and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2072005"/>
            <a:ext cx="15082520" cy="10676255"/>
          </a:xfrm>
          <a:prstGeom prst="rect">
            <a:avLst/>
          </a:prstGeom>
          <a:noFill/>
        </p:spPr>
        <p:txBody>
          <a:bodyPr wrap="square" rtlCol="0">
            <a:noAutofit/>
          </a:bodyPr>
          <a:lstStyle/>
          <a:p>
            <a:pPr indent="0">
              <a:buFont typeface="Arial" panose="020B0604020202020204" pitchFamily="34" charset="0"/>
              <a:buNone/>
            </a:pPr>
            <a:r>
              <a:rPr lang="en-US" altLang="en-US" sz="3600" dirty="0"/>
              <a:t>Event management in colleges often involves manual registration, which can be time-consuming and difficult to track. This project aims to create a digital platform for managing technical and non-technical event registrations efficiently. The system allows participants to register for different events through an easy-to-use web interface. It also provides a real-time dashboard for organizers to monitor registrations instantly. Using technologies like HTML, CSS, JavaScript, Node.js, and Socket.IO, the system updates participant data live without refreshing the page. This improves accuracy and reduces manual work. Such systems are useful for managing college fests, workshops, and competitions. The Aura Event 2026 system demonstrates how real-time web technology can simplify event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271016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t>Many college event systems still rely on manual or delayed registration processes, making it difficult to manage participant data efficiently.</a:t>
            </a:r>
          </a:p>
          <a:p>
            <a:pPr marL="457200" indent="-457200">
              <a:buFont typeface="Arial" panose="020B0604020202020204" pitchFamily="34" charset="0"/>
              <a:buChar char="•"/>
            </a:pPr>
            <a:r>
              <a:rPr lang="en-US" altLang="en-US" sz="3200" dirty="0"/>
              <a:t>Event organizers often face challenges in tracking registrations and updating information across different event pages.</a:t>
            </a:r>
          </a:p>
          <a:p>
            <a:pPr marL="457200" indent="-457200">
              <a:buFont typeface="Arial" panose="020B0604020202020204" pitchFamily="34" charset="0"/>
              <a:buChar char="•"/>
            </a:pPr>
            <a:r>
              <a:rPr lang="en-US" altLang="en-US" sz="3200" dirty="0"/>
              <a:t>Without real-time synchronization, participant data may not be updated instantly, leading to confusion and data inconsistency.</a:t>
            </a:r>
          </a:p>
          <a:p>
            <a:pPr marL="457200" indent="-457200">
              <a:buFont typeface="Arial" panose="020B0604020202020204" pitchFamily="34" charset="0"/>
              <a:buChar char="•"/>
            </a:pPr>
            <a:r>
              <a:rPr lang="en-US" altLang="en-US" sz="3200" dirty="0"/>
              <a:t>Managing multiple events such as technical and non-technical competitions becomes complex without a centralized system.</a:t>
            </a:r>
          </a:p>
          <a:p>
            <a:pPr marL="457200" indent="-457200">
              <a:buFont typeface="Arial" panose="020B0604020202020204" pitchFamily="34" charset="0"/>
              <a:buChar char="•"/>
            </a:pPr>
            <a:r>
              <a:rPr lang="en-US" altLang="en-US" sz="3200" dirty="0"/>
              <a:t>Traditional systems also lack a live dashboard to monitor registrations instantly.</a:t>
            </a:r>
          </a:p>
          <a:p>
            <a:pPr marL="457200" indent="-457200">
              <a:buFont typeface="Arial" panose="020B0604020202020204" pitchFamily="34" charset="0"/>
              <a:buChar char="•"/>
            </a:pPr>
            <a:r>
              <a:rPr lang="en-US" altLang="en-US" sz="3200" dirty="0"/>
              <a:t>Therefore, there is a need for a Real Time Event Synchronization Engine to manage event data dynamically.</a:t>
            </a:r>
          </a:p>
          <a:p>
            <a:pPr marL="457200" indent="-457200">
              <a:buFont typeface="Arial" panose="020B0604020202020204" pitchFamily="34" charset="0"/>
              <a:buChar char="•"/>
            </a:pPr>
            <a:r>
              <a:rPr lang="en-US" altLang="en-US" sz="3200" dirty="0"/>
              <a:t>The system should ensure instant updates of registrations across the platform.</a:t>
            </a:r>
          </a:p>
          <a:p>
            <a:pPr marL="457200" indent="-457200">
              <a:buFont typeface="Arial" panose="020B0604020202020204" pitchFamily="34" charset="0"/>
              <a:buChar char="•"/>
            </a:pPr>
            <a:r>
              <a:rPr lang="en-US" altLang="en-US" sz="3200" dirty="0"/>
              <a:t>This will help organizers monitor events efficiently and improve overall event management.</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2185035"/>
            <a:ext cx="15082520" cy="6746875"/>
          </a:xfrm>
          <a:prstGeom prst="rect">
            <a:avLst/>
          </a:prstGeom>
          <a:noFill/>
        </p:spPr>
        <p:txBody>
          <a:bodyPr wrap="square" rtlCol="0">
            <a:noAutofit/>
          </a:bodyPr>
          <a:lstStyle/>
          <a:p>
            <a:pPr marL="457200" indent="-457200">
              <a:buFont typeface="Arial" panose="020B0604020202020204" pitchFamily="34" charset="0"/>
              <a:buChar char="•"/>
            </a:pPr>
            <a:r>
              <a:rPr lang="en-US" altLang="en-US" sz="4000" dirty="0"/>
              <a:t>To design and develop a Real Time Event Synchronization Engine that allows participants to register for technical and non-technical events through an online platform.</a:t>
            </a:r>
          </a:p>
          <a:p>
            <a:pPr marL="457200" indent="-457200">
              <a:buFont typeface="Arial" panose="020B0604020202020204" pitchFamily="34" charset="0"/>
              <a:buChar char="•"/>
            </a:pPr>
            <a:endParaRPr lang="en-US" altLang="en-US" sz="4000" dirty="0"/>
          </a:p>
          <a:p>
            <a:pPr marL="457200" indent="-457200">
              <a:buFont typeface="Arial" panose="020B0604020202020204" pitchFamily="34" charset="0"/>
              <a:buChar char="•"/>
            </a:pPr>
            <a:r>
              <a:rPr lang="en-US" altLang="en-US" sz="4000" dirty="0"/>
              <a:t>To implement a live dashboard system that synchronizes and displays event registration data instantly for efficient monitoring by organi</a:t>
            </a:r>
            <a:r>
              <a:rPr lang="en-IN" altLang="en-US" sz="4000" dirty="0"/>
              <a:t>zers</a:t>
            </a:r>
            <a:endParaRPr lang="en-US" altLang="en-US" sz="4000" dirty="0"/>
          </a:p>
          <a:p>
            <a:pPr marL="457200" indent="-457200">
              <a:buFontTx/>
              <a:buChar char="-"/>
            </a:pPr>
            <a:endParaRPr lang="en-US" sz="4000" dirty="0"/>
          </a:p>
          <a:p>
            <a:pPr marL="457200" indent="-457200">
              <a:buFontTx/>
              <a:buChar char="-"/>
            </a:pPr>
            <a:endParaRPr lang="en-IN"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2218035"/>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t>The proposed system is a Real Time Event Synchronization Engine designed to manage event registrations through an online platform.</a:t>
            </a:r>
          </a:p>
          <a:p>
            <a:pPr marL="457200" indent="-457200">
              <a:buFont typeface="Arial" panose="020B0604020202020204" pitchFamily="34" charset="0"/>
              <a:buChar char="•"/>
            </a:pPr>
            <a:r>
              <a:rPr lang="en-US" altLang="en-US" sz="3200" dirty="0"/>
              <a:t>It allows participants to register for technical and non-technical events using a simple web interface.</a:t>
            </a:r>
          </a:p>
          <a:p>
            <a:pPr marL="457200" indent="-457200">
              <a:buFont typeface="Arial" panose="020B0604020202020204" pitchFamily="34" charset="0"/>
              <a:buChar char="•"/>
            </a:pPr>
            <a:r>
              <a:rPr lang="en-US" altLang="en-US" sz="3200" dirty="0"/>
              <a:t>The system uses Node.js and Socket.IO to synchronize registration data instantly across different pages.</a:t>
            </a:r>
          </a:p>
          <a:p>
            <a:pPr marL="457200" indent="-457200">
              <a:buFont typeface="Arial" panose="020B0604020202020204" pitchFamily="34" charset="0"/>
              <a:buChar char="•"/>
            </a:pPr>
            <a:r>
              <a:rPr lang="en-US" altLang="en-US" sz="3200" dirty="0"/>
              <a:t>A live dashboard displays participant details and registration counts in real time without refreshing the page.</a:t>
            </a:r>
          </a:p>
          <a:p>
            <a:pPr marL="457200" indent="-457200">
              <a:buFont typeface="Arial" panose="020B0604020202020204" pitchFamily="34" charset="0"/>
              <a:buChar char="•"/>
            </a:pPr>
            <a:r>
              <a:rPr lang="en-US" altLang="en-US" sz="3200" dirty="0"/>
              <a:t>This solution eliminates manual data entry, delays, and errors present in traditional event management systems.</a:t>
            </a:r>
          </a:p>
          <a:p>
            <a:pPr marL="457200" indent="-457200">
              <a:buFont typeface="Arial" panose="020B0604020202020204" pitchFamily="34" charset="0"/>
              <a:buChar char="•"/>
            </a:pPr>
            <a:r>
              <a:rPr lang="en-US" altLang="en-US" sz="3200" dirty="0"/>
              <a:t>The system ensures centralized data storage and automatic updates whenever a new participant registers.</a:t>
            </a:r>
          </a:p>
          <a:p>
            <a:pPr marL="457200" indent="-457200">
              <a:buFont typeface="Arial" panose="020B0604020202020204" pitchFamily="34" charset="0"/>
              <a:buChar char="•"/>
            </a:pPr>
            <a:r>
              <a:rPr lang="en-US" altLang="en-US" sz="3200" dirty="0"/>
              <a:t>It improves efficiency, accuracy, and real-time monitoring for event organizers.</a:t>
            </a:r>
          </a:p>
          <a:p>
            <a:pPr marL="457200" indent="-457200">
              <a:buFont typeface="Arial" panose="020B0604020202020204" pitchFamily="34" charset="0"/>
              <a:buChar char="•"/>
            </a:pPr>
            <a:r>
              <a:rPr lang="en-US" altLang="en-US" sz="3200" dirty="0"/>
              <a:t>Compared to existing systems, it provides faster data updates, better organization, and an improved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075180" y="1294130"/>
            <a:ext cx="15217140" cy="13239115"/>
          </a:xfrm>
          <a:prstGeom prst="rect">
            <a:avLst/>
          </a:prstGeom>
          <a:noFill/>
        </p:spPr>
        <p:txBody>
          <a:bodyPr wrap="square" rtlCol="0">
            <a:noAutofit/>
          </a:bodyPr>
          <a:lstStyle/>
          <a:p>
            <a:pPr indent="0">
              <a:buFont typeface="Arial" panose="020B0604020202020204" pitchFamily="34" charset="0"/>
              <a:buNone/>
            </a:pPr>
            <a:r>
              <a:rPr lang="en-US" altLang="en-US" sz="2400" b="1" dirty="0"/>
              <a:t>Frontend</a:t>
            </a:r>
          </a:p>
          <a:p>
            <a:pPr marL="457200" indent="-457200">
              <a:buFont typeface="Arial" panose="020B0604020202020204" pitchFamily="34" charset="0"/>
              <a:buChar char="•"/>
            </a:pPr>
            <a:r>
              <a:rPr lang="en-US" altLang="en-US" sz="2400" dirty="0"/>
              <a:t>HTML5 – Used to design the structure of the web pages such as registration, event pages, and dashboard.</a:t>
            </a:r>
          </a:p>
          <a:p>
            <a:pPr marL="457200" indent="-457200">
              <a:buFont typeface="Arial" panose="020B0604020202020204" pitchFamily="34" charset="0"/>
              <a:buChar char="•"/>
            </a:pPr>
            <a:r>
              <a:rPr lang="en-US" altLang="en-US" sz="2400" dirty="0"/>
              <a:t>CSS3 – Used for styling, layout design, and responsive user interface.</a:t>
            </a:r>
          </a:p>
          <a:p>
            <a:pPr marL="457200" indent="-457200">
              <a:buFont typeface="Arial" panose="020B0604020202020204" pitchFamily="34" charset="0"/>
              <a:buChar char="•"/>
            </a:pPr>
            <a:r>
              <a:rPr lang="en-US" altLang="en-US" sz="2400" dirty="0"/>
              <a:t>JavaScript – Handles client-side logic, form validation, and dynamic content updates.</a:t>
            </a:r>
          </a:p>
          <a:p>
            <a:pPr indent="0">
              <a:buFont typeface="Arial" panose="020B0604020202020204" pitchFamily="34" charset="0"/>
              <a:buNone/>
            </a:pPr>
            <a:r>
              <a:rPr lang="en-US" altLang="en-US" sz="2400" b="1" dirty="0"/>
              <a:t>Backend</a:t>
            </a:r>
          </a:p>
          <a:p>
            <a:pPr marL="457200" indent="-457200">
              <a:buFont typeface="Arial" panose="020B0604020202020204" pitchFamily="34" charset="0"/>
              <a:buChar char="•"/>
            </a:pPr>
            <a:r>
              <a:rPr lang="en-US" altLang="en-US" sz="2400" dirty="0"/>
              <a:t>Node.js – Used to build the server-side application and handle user requests.</a:t>
            </a:r>
          </a:p>
          <a:p>
            <a:pPr marL="457200" indent="-457200">
              <a:buFont typeface="Arial" panose="020B0604020202020204" pitchFamily="34" charset="0"/>
              <a:buChar char="•"/>
            </a:pPr>
            <a:r>
              <a:rPr lang="en-US" altLang="en-US" sz="2400" dirty="0"/>
              <a:t>Express.js – Provides routing and middleware support for managing the web application.</a:t>
            </a:r>
          </a:p>
          <a:p>
            <a:pPr marL="457200" indent="-457200">
              <a:buFont typeface="Arial" panose="020B0604020202020204" pitchFamily="34" charset="0"/>
              <a:buChar char="•"/>
            </a:pPr>
            <a:r>
              <a:rPr lang="en-US" altLang="en-US" sz="2400" dirty="0"/>
              <a:t>Socket.IO – Enables real-time communication between the client and server for live dashboard updates.</a:t>
            </a:r>
          </a:p>
          <a:p>
            <a:pPr indent="0">
              <a:buFont typeface="Arial" panose="020B0604020202020204" pitchFamily="34" charset="0"/>
              <a:buNone/>
            </a:pPr>
            <a:r>
              <a:rPr lang="en-US" altLang="en-US" sz="2400" b="1" dirty="0"/>
              <a:t>Database</a:t>
            </a:r>
          </a:p>
          <a:p>
            <a:pPr marL="457200" indent="-457200">
              <a:buFont typeface="Arial" panose="020B0604020202020204" pitchFamily="34" charset="0"/>
              <a:buChar char="•"/>
            </a:pPr>
            <a:r>
              <a:rPr lang="en-US" altLang="en-US" sz="2400" dirty="0"/>
              <a:t>In-Memory Data Storage / Server Data Array – Stores registered user details such as name, email, phone, event name, event type, and timestamp during runtime.</a:t>
            </a:r>
          </a:p>
          <a:p>
            <a:pPr indent="0">
              <a:buFont typeface="Arial" panose="020B0604020202020204" pitchFamily="34" charset="0"/>
              <a:buNone/>
            </a:pPr>
            <a:r>
              <a:rPr lang="en-US" altLang="en-US" sz="2400" b="1" dirty="0"/>
              <a:t>Tools</a:t>
            </a:r>
          </a:p>
          <a:p>
            <a:pPr marL="457200" indent="-457200">
              <a:buFont typeface="Arial" panose="020B0604020202020204" pitchFamily="34" charset="0"/>
              <a:buChar char="•"/>
            </a:pPr>
            <a:r>
              <a:rPr lang="en-US" altLang="en-US" sz="2400" dirty="0"/>
              <a:t>Visual Studio Code – Used for writing and editing the source code.</a:t>
            </a:r>
          </a:p>
          <a:p>
            <a:pPr marL="457200" indent="-457200">
              <a:buFont typeface="Arial" panose="020B0604020202020204" pitchFamily="34" charset="0"/>
              <a:buChar char="•"/>
            </a:pPr>
            <a:r>
              <a:rPr lang="en-US" altLang="en-US" sz="2400" dirty="0"/>
              <a:t>Node Package Manager (NPM) – Used to install project dependencies like Express and Socket.IO.</a:t>
            </a:r>
          </a:p>
          <a:p>
            <a:pPr marL="457200" indent="-457200">
              <a:buFont typeface="Arial" panose="020B0604020202020204" pitchFamily="34" charset="0"/>
              <a:buChar char="•"/>
            </a:pPr>
            <a:r>
              <a:rPr lang="en-US" altLang="en-US" sz="2400" dirty="0"/>
              <a:t>Web Browser (Chrome/Edge) – Used for testing and running the web application.</a:t>
            </a:r>
          </a:p>
          <a:p>
            <a:pPr indent="0">
              <a:buFont typeface="Arial" panose="020B0604020202020204" pitchFamily="34" charset="0"/>
              <a:buNone/>
            </a:pPr>
            <a:r>
              <a:rPr lang="en-US" altLang="en-US" sz="2400" b="1" dirty="0"/>
              <a:t>Hardware / Software Requirements</a:t>
            </a:r>
            <a:endParaRPr lang="en-US" altLang="en-US" sz="2400" dirty="0"/>
          </a:p>
          <a:p>
            <a:pPr marL="457200" indent="-457200">
              <a:buFont typeface="Arial" panose="020B0604020202020204" pitchFamily="34" charset="0"/>
              <a:buChar char="•"/>
            </a:pPr>
            <a:r>
              <a:rPr lang="en-US" altLang="en-US" sz="2400" b="1" dirty="0"/>
              <a:t>Hardware</a:t>
            </a:r>
          </a:p>
          <a:p>
            <a:pPr marL="457200" indent="-457200">
              <a:buFont typeface="Arial" panose="020B0604020202020204" pitchFamily="34" charset="0"/>
              <a:buChar char="•"/>
            </a:pPr>
            <a:r>
              <a:rPr lang="en-US" sz="2400" dirty="0">
                <a:sym typeface="+mn-ea"/>
              </a:rPr>
              <a:t>Computer/Laptop with minimum 4GB RAM and internet connectivity.</a:t>
            </a:r>
          </a:p>
          <a:p>
            <a:pPr marL="457200" indent="-457200">
              <a:buFont typeface="Arial" panose="020B0604020202020204" pitchFamily="34" charset="0"/>
              <a:buChar char="•"/>
            </a:pPr>
            <a:r>
              <a:rPr lang="en-US" altLang="en-US" sz="2400" b="1" dirty="0"/>
              <a:t>Software</a:t>
            </a:r>
          </a:p>
          <a:p>
            <a:pPr marL="457200" indent="-457200">
              <a:buFont typeface="Arial" panose="020B0604020202020204" pitchFamily="34" charset="0"/>
              <a:buChar char="•"/>
            </a:pPr>
            <a:r>
              <a:rPr lang="en-US" altLang="en-US" sz="2400" dirty="0"/>
              <a:t>Node.js Runtime Environment</a:t>
            </a:r>
          </a:p>
          <a:p>
            <a:pPr marL="457200" indent="-457200">
              <a:buFont typeface="Arial" panose="020B0604020202020204" pitchFamily="34" charset="0"/>
              <a:buChar char="•"/>
            </a:pPr>
            <a:r>
              <a:rPr lang="en-US" altLang="en-US" sz="2400" dirty="0"/>
              <a:t>Web Browser (Chrome / Edge / Firefox)</a:t>
            </a:r>
          </a:p>
          <a:p>
            <a:pPr marL="457200" indent="-457200">
              <a:buFont typeface="Arial" panose="020B0604020202020204" pitchFamily="34" charset="0"/>
              <a:buChar char="•"/>
            </a:pPr>
            <a:r>
              <a:rPr lang="en-US" altLang="en-US" sz="2400" dirty="0"/>
              <a:t>Operating System: Windows </a:t>
            </a:r>
          </a:p>
          <a:p>
            <a:pPr marL="457200" indent="-457200">
              <a:buFont typeface="Arial" panose="020B0604020202020204" pitchFamily="34" charset="0"/>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817370" y="1265555"/>
            <a:ext cx="15474950" cy="10374630"/>
          </a:xfrm>
          <a:prstGeom prst="rect">
            <a:avLst/>
          </a:prstGeom>
          <a:noFill/>
        </p:spPr>
        <p:txBody>
          <a:bodyPr wrap="square" rtlCol="0">
            <a:noAutofit/>
          </a:bodyPr>
          <a:lstStyle/>
          <a:p>
            <a:endParaRPr lang="en-IN" sz="2800" b="1" dirty="0"/>
          </a:p>
          <a:p>
            <a:r>
              <a:rPr lang="en-US" altLang="en-US" sz="2800" b="1" dirty="0"/>
              <a:t>Module 1: User Registration Management</a:t>
            </a:r>
          </a:p>
          <a:p>
            <a:r>
              <a:rPr lang="en-US" altLang="en-US" sz="2800" dirty="0"/>
              <a:t>Handles participant registration through the web interface where users enter name, email, and phone number.</a:t>
            </a:r>
          </a:p>
          <a:p>
            <a:r>
              <a:rPr lang="en-US" altLang="en-US" sz="2800" dirty="0"/>
              <a:t>The system validates the input data and allows users to select Technical or Non-Technical events for participation.</a:t>
            </a:r>
          </a:p>
          <a:p>
            <a:r>
              <a:rPr lang="en-US" altLang="en-US" sz="2800" b="1" dirty="0"/>
              <a:t>Module 2: Event Processing Module</a:t>
            </a:r>
          </a:p>
          <a:p>
            <a:r>
              <a:rPr lang="en-US" altLang="en-US" sz="2800" dirty="0"/>
              <a:t>Processes the user registration request and assigns the selected event name and event type.</a:t>
            </a:r>
          </a:p>
          <a:p>
            <a:r>
              <a:rPr lang="en-US" altLang="en-US" sz="2800" dirty="0"/>
              <a:t>The backend server built using Node.js and Socket.IO manages the event data and ensures proper processing of user inputs.</a:t>
            </a:r>
          </a:p>
          <a:p>
            <a:r>
              <a:rPr lang="en-US" altLang="en-US" sz="2800" b="1" dirty="0"/>
              <a:t>Module 3: Data Management Module</a:t>
            </a:r>
          </a:p>
          <a:p>
            <a:r>
              <a:rPr lang="en-US" altLang="en-US" sz="2800" dirty="0"/>
              <a:t>Stores participant details such as name, email, phone number, event name, event type, and timestamp.</a:t>
            </a:r>
          </a:p>
          <a:p>
            <a:r>
              <a:rPr lang="en-US" altLang="en-US" sz="2800" dirty="0"/>
              <a:t>This module manages the retrieval and updating of data for displaying in the live dashboard.</a:t>
            </a:r>
          </a:p>
          <a:p>
            <a:r>
              <a:rPr lang="en-US" altLang="en-US" sz="2800" b="1" dirty="0"/>
              <a:t>Module 4: Real-Time Dashboard &amp; Monitoring</a:t>
            </a:r>
          </a:p>
          <a:p>
            <a:r>
              <a:rPr lang="en-US" altLang="en-US" sz="2800" dirty="0"/>
              <a:t>Displays all registrations in a live dashboard interface with total registrations, technical event count, and non-technical event count.</a:t>
            </a:r>
          </a:p>
          <a:p>
            <a:r>
              <a:rPr lang="en-US" altLang="en-US" sz="2800" dirty="0"/>
              <a:t>Using Socket.IO, the dashboard updates instantly whenever a new participant registers for an event.</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40120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F340297F-76BE-C387-A76E-64B0693012CD}"/>
              </a:ext>
            </a:extLst>
          </p:cNvPr>
          <p:cNvSpPr txBox="1"/>
          <p:nvPr/>
        </p:nvSpPr>
        <p:spPr>
          <a:xfrm>
            <a:off x="2362200" y="1790700"/>
            <a:ext cx="15082325" cy="440120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Box 2">
            <a:extLst>
              <a:ext uri="{FF2B5EF4-FFF2-40B4-BE49-F238E27FC236}">
                <a16:creationId xmlns:a16="http://schemas.microsoft.com/office/drawing/2014/main" id="{BD0C07DD-0E4D-C3CF-30F3-36E9D6445CAC}"/>
              </a:ext>
            </a:extLst>
          </p:cNvPr>
          <p:cNvSpPr txBox="1"/>
          <p:nvPr/>
        </p:nvSpPr>
        <p:spPr>
          <a:xfrm>
            <a:off x="2514600" y="1943100"/>
            <a:ext cx="15082325" cy="2677656"/>
          </a:xfrm>
          <a:prstGeom prst="rect">
            <a:avLst/>
          </a:prstGeom>
          <a:noFill/>
        </p:spPr>
        <p:txBody>
          <a:bodyPr wrap="square" rtlCol="0">
            <a:spAutoFit/>
          </a:bodyPr>
          <a:lstStyle/>
          <a:p>
            <a:pPr indent="0">
              <a:buFont typeface="Arial" panose="020B0604020202020204" pitchFamily="34" charset="0"/>
              <a:buNone/>
            </a:pPr>
            <a:r>
              <a:rPr lang="en-US" altLang="en-US" sz="2800" b="1"/>
              <a:t>Home Page</a:t>
            </a:r>
          </a:p>
          <a:p>
            <a:pPr marL="457200" indent="-457200">
              <a:buFont typeface="Arial" panose="020B0604020202020204" pitchFamily="34" charset="0"/>
              <a:buChar char="•"/>
            </a:pPr>
            <a:r>
              <a:rPr lang="en-US" altLang="en-US" sz="2800"/>
              <a:t>The Home Page introduces the Aura Event 2026 platform and provides basic information about the event.</a:t>
            </a:r>
          </a:p>
          <a:p>
            <a:pPr marL="457200" indent="-457200">
              <a:buFont typeface="Arial" panose="020B0604020202020204" pitchFamily="34" charset="0"/>
              <a:buChar char="•"/>
            </a:pPr>
            <a:r>
              <a:rPr lang="en-US" altLang="en-US" sz="2800"/>
              <a:t>It includes a “Register Now” button that redirects users to the registration page to participate in events.</a:t>
            </a:r>
          </a:p>
          <a:p>
            <a:pPr marL="457200" indent="-457200">
              <a:buFont typeface="Arial" panose="020B0604020202020204" pitchFamily="34" charset="0"/>
              <a:buChar char="•"/>
            </a:pPr>
            <a:endParaRPr lang="en-US" sz="2800" dirty="0"/>
          </a:p>
        </p:txBody>
      </p:sp>
      <p:pic>
        <p:nvPicPr>
          <p:cNvPr id="4" name="Picture 3" descr="Screenshot 2026-03-05 225929">
            <a:extLst>
              <a:ext uri="{FF2B5EF4-FFF2-40B4-BE49-F238E27FC236}">
                <a16:creationId xmlns:a16="http://schemas.microsoft.com/office/drawing/2014/main" id="{9BC331C6-445B-5C4B-8F6E-49270C646060}"/>
              </a:ext>
            </a:extLst>
          </p:cNvPr>
          <p:cNvPicPr>
            <a:picLocks noChangeAspect="1"/>
          </p:cNvPicPr>
          <p:nvPr/>
        </p:nvPicPr>
        <p:blipFill>
          <a:blip r:embed="rId3"/>
          <a:stretch>
            <a:fillRect/>
          </a:stretch>
        </p:blipFill>
        <p:spPr>
          <a:xfrm>
            <a:off x="5322886" y="4422584"/>
            <a:ext cx="8839200" cy="52671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E3D2369-9EDC-C044-46F0-7A3828D479AE}"/>
              </a:ext>
            </a:extLst>
          </p:cNvPr>
          <p:cNvSpPr txBox="1"/>
          <p:nvPr/>
        </p:nvSpPr>
        <p:spPr>
          <a:xfrm>
            <a:off x="1762139" y="1376035"/>
            <a:ext cx="16525861" cy="1815882"/>
          </a:xfrm>
          <a:prstGeom prst="rect">
            <a:avLst/>
          </a:prstGeom>
          <a:noFill/>
        </p:spPr>
        <p:txBody>
          <a:bodyPr wrap="square">
            <a:spAutoFit/>
          </a:bodyPr>
          <a:lstStyle/>
          <a:p>
            <a:pPr indent="0">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Login / Registration Page</a:t>
            </a: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 Registration Page allows users to enter their name and email before selecting Technical or Non-Technical events.</a:t>
            </a: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User details are validated and then forwarded to the event selection module.</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EDB33D4-EE11-C853-F50F-0DCC36049AD6}"/>
              </a:ext>
            </a:extLst>
          </p:cNvPr>
          <p:cNvPicPr>
            <a:picLocks noChangeAspect="1"/>
          </p:cNvPicPr>
          <p:nvPr/>
        </p:nvPicPr>
        <p:blipFill>
          <a:blip r:embed="rId3"/>
          <a:stretch>
            <a:fillRect/>
          </a:stretch>
        </p:blipFill>
        <p:spPr>
          <a:xfrm>
            <a:off x="4191000" y="3737610"/>
            <a:ext cx="10318115" cy="59251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CE0AA33-3CD3-3F46-719B-76059F38E0D9}"/>
              </a:ext>
            </a:extLst>
          </p:cNvPr>
          <p:cNvSpPr txBox="1"/>
          <p:nvPr/>
        </p:nvSpPr>
        <p:spPr>
          <a:xfrm>
            <a:off x="2087880" y="1714500"/>
            <a:ext cx="15082325" cy="1383665"/>
          </a:xfrm>
          <a:prstGeom prst="rect">
            <a:avLst/>
          </a:prstGeom>
          <a:noFill/>
        </p:spPr>
        <p:txBody>
          <a:bodyPr wrap="square" rtlCol="0">
            <a:spAutoFit/>
          </a:bodyPr>
          <a:lstStyle/>
          <a:p>
            <a:r>
              <a:rPr lang="en-US" altLang="en-US" sz="2800" b="1" dirty="0"/>
              <a:t>Main Module (Event Selection Page)</a:t>
            </a:r>
          </a:p>
          <a:p>
            <a:pPr marL="457200" indent="-457200">
              <a:buFont typeface="Arial" panose="020B0604020202020204" pitchFamily="34" charset="0"/>
              <a:buChar char="•"/>
            </a:pPr>
            <a:r>
              <a:rPr lang="en-US" altLang="en-US" sz="2800" dirty="0"/>
              <a:t>This module displays the list of Technical and Non-Technical events available for participation.</a:t>
            </a:r>
          </a:p>
          <a:p>
            <a:pPr marL="457200" indent="-457200">
              <a:buFont typeface="Arial" panose="020B0604020202020204" pitchFamily="34" charset="0"/>
              <a:buChar char="•"/>
            </a:pPr>
            <a:r>
              <a:rPr lang="en-US" altLang="en-US" sz="2800" dirty="0"/>
              <a:t>Users can select a specific event and proceed to register for that event.</a:t>
            </a:r>
            <a:endParaRPr lang="en-IN" sz="2800" dirty="0"/>
          </a:p>
        </p:txBody>
      </p:sp>
      <p:pic>
        <p:nvPicPr>
          <p:cNvPr id="4" name="Picture 3">
            <a:extLst>
              <a:ext uri="{FF2B5EF4-FFF2-40B4-BE49-F238E27FC236}">
                <a16:creationId xmlns:a16="http://schemas.microsoft.com/office/drawing/2014/main" id="{0B3FE8C5-A921-77A3-D539-A4F79C10E329}"/>
              </a:ext>
            </a:extLst>
          </p:cNvPr>
          <p:cNvPicPr>
            <a:picLocks noChangeAspect="1"/>
          </p:cNvPicPr>
          <p:nvPr/>
        </p:nvPicPr>
        <p:blipFill>
          <a:blip r:embed="rId3"/>
          <a:stretch>
            <a:fillRect/>
          </a:stretch>
        </p:blipFill>
        <p:spPr>
          <a:xfrm>
            <a:off x="1981200" y="4229100"/>
            <a:ext cx="7660005" cy="4312920"/>
          </a:xfrm>
          <a:prstGeom prst="rect">
            <a:avLst/>
          </a:prstGeom>
        </p:spPr>
      </p:pic>
      <p:pic>
        <p:nvPicPr>
          <p:cNvPr id="5" name="Picture 4">
            <a:extLst>
              <a:ext uri="{FF2B5EF4-FFF2-40B4-BE49-F238E27FC236}">
                <a16:creationId xmlns:a16="http://schemas.microsoft.com/office/drawing/2014/main" id="{E2BA3B89-9C70-D4F5-B2BE-99BF22C3FECA}"/>
              </a:ext>
            </a:extLst>
          </p:cNvPr>
          <p:cNvPicPr>
            <a:picLocks noChangeAspect="1"/>
          </p:cNvPicPr>
          <p:nvPr/>
        </p:nvPicPr>
        <p:blipFill>
          <a:blip r:embed="rId4"/>
          <a:stretch>
            <a:fillRect/>
          </a:stretch>
        </p:blipFill>
        <p:spPr>
          <a:xfrm>
            <a:off x="9601200" y="4229101"/>
            <a:ext cx="7766050" cy="4343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3BCAB08-3FB3-A05E-7200-06BF5AE2338E}"/>
              </a:ext>
            </a:extLst>
          </p:cNvPr>
          <p:cNvSpPr txBox="1"/>
          <p:nvPr/>
        </p:nvSpPr>
        <p:spPr>
          <a:xfrm>
            <a:off x="1446968" y="1456904"/>
            <a:ext cx="16612431" cy="2246769"/>
          </a:xfrm>
          <a:prstGeom prst="rect">
            <a:avLst/>
          </a:prstGeom>
          <a:noFill/>
        </p:spPr>
        <p:txBody>
          <a:bodyPr wrap="square">
            <a:spAutoFit/>
          </a:bodyPr>
          <a:lstStyle/>
          <a:p>
            <a:r>
              <a:rPr lang="en-IN" sz="2800" b="1" dirty="0"/>
              <a:t>Output Page (Live Dashboard)</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Output Page displays the event registration form where users enter their name, email, and phone number to register.</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After submitting the form, the system processes the data and shows a “Successfully registered” confirmation message, indicating that the participant’s details have been recorded in the system.</a:t>
            </a:r>
          </a:p>
        </p:txBody>
      </p:sp>
      <p:pic>
        <p:nvPicPr>
          <p:cNvPr id="1081" name="Picture 1080">
            <a:extLst>
              <a:ext uri="{FF2B5EF4-FFF2-40B4-BE49-F238E27FC236}">
                <a16:creationId xmlns:a16="http://schemas.microsoft.com/office/drawing/2014/main" id="{6CB89844-9DD9-D1A3-CC9F-6FC50FF3D6EE}"/>
              </a:ext>
            </a:extLst>
          </p:cNvPr>
          <p:cNvPicPr>
            <a:picLocks noChangeAspect="1"/>
          </p:cNvPicPr>
          <p:nvPr/>
        </p:nvPicPr>
        <p:blipFill>
          <a:blip r:embed="rId3"/>
          <a:stretch>
            <a:fillRect/>
          </a:stretch>
        </p:blipFill>
        <p:spPr>
          <a:xfrm>
            <a:off x="5029200" y="3895407"/>
            <a:ext cx="8682846" cy="54517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339975" y="2090420"/>
            <a:ext cx="14062075" cy="7033260"/>
          </a:xfrm>
          <a:prstGeom prst="rect">
            <a:avLst/>
          </a:prstGeom>
        </p:spPr>
        <p:txBody>
          <a:bodyPr>
            <a:noAutofit/>
          </a:bodyPr>
          <a:lstStyle/>
          <a:p>
            <a:pPr>
              <a:spcAft>
                <a:spcPct val="60000"/>
              </a:spcAft>
            </a:pPr>
            <a:r>
              <a:rPr sz="2800" b="1"/>
              <a:t>Advantages</a:t>
            </a:r>
          </a:p>
          <a:p>
            <a:pPr>
              <a:buFont typeface="Arial" panose="020B0604020202020204"/>
              <a:buChar char="•"/>
            </a:pPr>
            <a:r>
              <a:rPr sz="2800"/>
              <a:t>Real-time synchronization: Participant registrations update instantly on the live dashboard using Socket.IO.</a:t>
            </a:r>
          </a:p>
          <a:p>
            <a:pPr>
              <a:buFont typeface="Arial" panose="020B0604020202020204"/>
              <a:buChar char="•"/>
            </a:pPr>
            <a:r>
              <a:rPr sz="2800"/>
              <a:t>User-friendly system: Simple interface allows users to easily register for technical and non-technical events.</a:t>
            </a:r>
          </a:p>
          <a:p>
            <a:pPr>
              <a:buFont typeface="Arial" panose="020B0604020202020204"/>
              <a:buChar char="•"/>
            </a:pPr>
            <a:r>
              <a:rPr sz="2800"/>
              <a:t>Reduces manual work: Automates event registration and monitoring for organizers.</a:t>
            </a:r>
          </a:p>
          <a:p>
            <a:pPr>
              <a:buFont typeface="Arial" panose="020B0604020202020204"/>
              <a:buChar char="•"/>
            </a:pPr>
            <a:r>
              <a:rPr sz="2800"/>
              <a:t>Efficient data handling: Node.js processes multiple user requests quickly.</a:t>
            </a:r>
          </a:p>
          <a:p>
            <a:pPr>
              <a:spcAft>
                <a:spcPct val="60000"/>
              </a:spcAft>
            </a:pPr>
            <a:r>
              <a:rPr sz="2800" b="1"/>
              <a:t>Limitations</a:t>
            </a:r>
          </a:p>
          <a:p>
            <a:pPr>
              <a:buFont typeface="Arial" panose="020B0604020202020204"/>
              <a:buChar char="•"/>
            </a:pPr>
            <a:r>
              <a:rPr sz="2800"/>
              <a:t>Basic security: Only simple input validation is implemented; advanced security features are not included.</a:t>
            </a:r>
          </a:p>
          <a:p>
            <a:pPr>
              <a:buFont typeface="Arial" panose="020B0604020202020204"/>
              <a:buChar char="•"/>
            </a:pPr>
            <a:r>
              <a:rPr sz="2800"/>
              <a:t>Internet dependency: Real-time updates require a stable internet connection.</a:t>
            </a:r>
          </a:p>
          <a:p>
            <a:pPr>
              <a:buFont typeface="Arial" panose="020B0604020202020204"/>
              <a:buChar char="•"/>
            </a:pPr>
            <a:r>
              <a:rPr sz="2800"/>
              <a:t>Limited scalability: The system may need optimization for handling a very large number of users.</a:t>
            </a:r>
          </a:p>
          <a:p>
            <a:pPr>
              <a:buFont typeface="Arial" panose="020B0604020202020204"/>
              <a:buChar char="•"/>
            </a:pPr>
            <a:r>
              <a:rPr sz="2800"/>
              <a:t>Basic analytics: The system currently provides limited reporting and data analysis features.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1368</Words>
  <Application>Microsoft Office PowerPoint</Application>
  <PresentationFormat>Custom</PresentationFormat>
  <Paragraphs>300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Arial</vt:lpstr>
      <vt:lpstr>Gotham Bold Italics</vt:lpstr>
      <vt:lpstr>Times New Roman</vt:lpstr>
      <vt:lpstr>Gotham</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 P</dc:creator>
  <cp:lastModifiedBy>likhithareddy35@outlook.com</cp:lastModifiedBy>
  <cp:revision>13</cp:revision>
  <dcterms:created xsi:type="dcterms:W3CDTF">2006-08-16T00:00:00Z</dcterms:created>
  <dcterms:modified xsi:type="dcterms:W3CDTF">2026-05-06T08:19:27Z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0B39E8287F30438D8464F6E818676FF0_13</vt:lpwstr>
  </property>
  <property fmtid="{D5CDD505-2E9C-101B-9397-08002B2CF9AE}" pid="3" name="KSOProductBuildVer">
    <vt:lpwstr>1033-12.2.0.23196</vt:lpwstr>
  </property>
</Properties>
</file>