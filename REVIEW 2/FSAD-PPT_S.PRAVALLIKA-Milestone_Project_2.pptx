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sldIdLst>
    <p:sldId id="256" r:id="rId2"/>
    <p:sldId id="257" r:id="rId3"/>
    <p:sldId id="258" r:id="rId4"/>
    <p:sldId id="259" r:id="rId5"/>
    <p:sldId id="260" r:id="rId6"/>
    <p:sldId id="261" r:id="rId7"/>
    <p:sldId id="262" r:id="rId8"/>
    <p:sldId id="263" r:id="rId9"/>
    <p:sldId id="264" r:id="rId10"/>
    <p:sldId id="266" r:id="rId11"/>
    <p:sldId id="269" r:id="rId12"/>
    <p:sldId id="267" r:id="rId13"/>
    <p:sldId id="268" r:id="rId14"/>
    <p:sldId id="270" r:id="rId15"/>
    <p:sldId id="265" r:id="rId16"/>
  </p:sldIdLst>
  <p:sldSz cx="18288000" cy="10287000"/>
  <p:notesSz cx="6858000" cy="9144000"/>
  <p:embeddedFontLst>
    <p:embeddedFont>
      <p:font typeface="Cambria" panose="02040503050406030204" pitchFamily="18" charset="0"/>
      <p:regular r:id="rId17"/>
      <p:bold r:id="rId18"/>
      <p:italic r:id="rId19"/>
      <p:boldItalic r:id="rId20"/>
    </p:embeddedFont>
    <p:embeddedFont>
      <p:font typeface="Gotham" panose="020B0604020202020204" charset="0"/>
      <p:regular r:id="rId21"/>
    </p:embeddedFont>
    <p:embeddedFont>
      <p:font typeface="Gotham Bold Italics" panose="020B0604020202020204" charset="0"/>
      <p:regular r:id="rId22"/>
      <p:bold r:id="rId23"/>
      <p:italic r:id="rId24"/>
      <p:boldItalic r:id="rId2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52" d="100"/>
          <a:sy n="52" d="100"/>
        </p:scale>
        <p:origin x="850" y="29"/>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2.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5.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1.fntdata"/><Relationship Id="rId25" Type="http://schemas.openxmlformats.org/officeDocument/2006/relationships/font" Target="fonts/font9.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4.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8.fnt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7.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6.fntdata"/><Relationship Id="rId27"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5/6/2026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5/6/2026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5/6/2026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5/6/2026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5/6/2026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5/6/2026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6.png"/></Relationships>
</file>

<file path=ppt/slides/_rels/slide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8.png"/></Relationships>
</file>

<file path=ppt/slides/_rels/slide1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10.png"/></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0" name="Group 10"/>
          <p:cNvGrpSpPr/>
          <p:nvPr/>
        </p:nvGrpSpPr>
        <p:grpSpPr>
          <a:xfrm>
            <a:off x="11762088" y="-9632634"/>
            <a:ext cx="10994424" cy="10994424"/>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12" name="TextBox 12"/>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grpSp>
        <p:nvGrpSpPr>
          <p:cNvPr id="19" name="Group 19"/>
          <p:cNvGrpSpPr/>
          <p:nvPr/>
        </p:nvGrpSpPr>
        <p:grpSpPr>
          <a:xfrm>
            <a:off x="-9965724" y="-1383136"/>
            <a:ext cx="10994424" cy="10994424"/>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21" name="TextBox 21"/>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pic>
        <p:nvPicPr>
          <p:cNvPr id="23" name="Picture 22">
            <a:extLst>
              <a:ext uri="{FF2B5EF4-FFF2-40B4-BE49-F238E27FC236}">
                <a16:creationId xmlns:a16="http://schemas.microsoft.com/office/drawing/2014/main" id="{1194AAA3-5CF4-E695-04C9-0894FFF6F1F1}"/>
              </a:ext>
            </a:extLst>
          </p:cNvPr>
          <p:cNvPicPr>
            <a:picLocks noChangeAspect="1"/>
          </p:cNvPicPr>
          <p:nvPr/>
        </p:nvPicPr>
        <p:blipFill>
          <a:blip r:embed="rId2"/>
          <a:stretch>
            <a:fillRect/>
          </a:stretch>
        </p:blipFill>
        <p:spPr>
          <a:xfrm>
            <a:off x="6610443" y="196689"/>
            <a:ext cx="4752247" cy="1360611"/>
          </a:xfrm>
          <a:prstGeom prst="rect">
            <a:avLst/>
          </a:prstGeom>
        </p:spPr>
      </p:pic>
      <p:sp>
        <p:nvSpPr>
          <p:cNvPr id="24" name="TextBox 23">
            <a:extLst>
              <a:ext uri="{FF2B5EF4-FFF2-40B4-BE49-F238E27FC236}">
                <a16:creationId xmlns:a16="http://schemas.microsoft.com/office/drawing/2014/main" id="{BB0EB85C-D9CE-08DC-1131-77C9DD1A002D}"/>
              </a:ext>
            </a:extLst>
          </p:cNvPr>
          <p:cNvSpPr txBox="1"/>
          <p:nvPr/>
        </p:nvSpPr>
        <p:spPr>
          <a:xfrm>
            <a:off x="1360002" y="1608482"/>
            <a:ext cx="15925800" cy="1631216"/>
          </a:xfrm>
          <a:prstGeom prst="rect">
            <a:avLst/>
          </a:prstGeom>
          <a:noFill/>
        </p:spPr>
        <p:txBody>
          <a:bodyPr wrap="square" rtlCol="0">
            <a:spAutoFit/>
          </a:bodyPr>
          <a:lstStyle/>
          <a:p>
            <a:pPr algn="ctr"/>
            <a:r>
              <a:rPr lang="en-US" sz="3200" b="1" dirty="0">
                <a:latin typeface="Times New Roman" panose="02020603050405020304" pitchFamily="18" charset="0"/>
                <a:ea typeface="Cambria" panose="02040503050406030204" pitchFamily="18" charset="0"/>
                <a:cs typeface="Times New Roman" panose="02020603050405020304" pitchFamily="18" charset="0"/>
              </a:rPr>
              <a:t>Vel Tech Rangarajan Dr. Sagunthala R&amp;D Institute of Science and Technology</a:t>
            </a:r>
          </a:p>
          <a:p>
            <a:pPr algn="ctr"/>
            <a:r>
              <a:rPr lang="en-US" sz="3600" b="1" dirty="0">
                <a:latin typeface="Times New Roman" panose="02020603050405020304" pitchFamily="18" charset="0"/>
                <a:ea typeface="Cambria" panose="02040503050406030204" pitchFamily="18" charset="0"/>
                <a:cs typeface="Times New Roman" panose="02020603050405020304" pitchFamily="18" charset="0"/>
              </a:rPr>
              <a:t>School of Computing </a:t>
            </a:r>
          </a:p>
          <a:p>
            <a:pPr algn="ctr"/>
            <a:r>
              <a:rPr lang="en-US" sz="3200" b="1" dirty="0">
                <a:latin typeface="Times New Roman" panose="02020603050405020304" pitchFamily="18" charset="0"/>
                <a:ea typeface="Cambria" panose="02040503050406030204" pitchFamily="18" charset="0"/>
                <a:cs typeface="Times New Roman" panose="02020603050405020304" pitchFamily="18" charset="0"/>
              </a:rPr>
              <a:t>Department of Computer Science and Engineering</a:t>
            </a:r>
            <a:endParaRPr lang="en-IN" sz="3200" b="1" dirty="0">
              <a:latin typeface="Times New Roman" panose="02020603050405020304" pitchFamily="18" charset="0"/>
              <a:ea typeface="Cambria" panose="02040503050406030204" pitchFamily="18" charset="0"/>
              <a:cs typeface="Times New Roman" panose="02020603050405020304" pitchFamily="18" charset="0"/>
            </a:endParaRPr>
          </a:p>
        </p:txBody>
      </p:sp>
      <p:sp>
        <p:nvSpPr>
          <p:cNvPr id="26" name="TextBox 25">
            <a:extLst>
              <a:ext uri="{FF2B5EF4-FFF2-40B4-BE49-F238E27FC236}">
                <a16:creationId xmlns:a16="http://schemas.microsoft.com/office/drawing/2014/main" id="{55785AF5-58C8-2624-E1FD-4723B0683DE6}"/>
              </a:ext>
            </a:extLst>
          </p:cNvPr>
          <p:cNvSpPr txBox="1"/>
          <p:nvPr/>
        </p:nvSpPr>
        <p:spPr>
          <a:xfrm>
            <a:off x="1692835" y="3272357"/>
            <a:ext cx="15260135" cy="523220"/>
          </a:xfrm>
          <a:prstGeom prst="rect">
            <a:avLst/>
          </a:prstGeom>
          <a:noFill/>
        </p:spPr>
        <p:txBody>
          <a:bodyPr wrap="square">
            <a:spAutoFit/>
          </a:bodyPr>
          <a:lstStyle/>
          <a:p>
            <a:pPr algn="ctr"/>
            <a:r>
              <a:rPr lang="en-US" sz="2800" b="1" dirty="0">
                <a:solidFill>
                  <a:srgbClr val="0033CC"/>
                </a:solidFill>
                <a:latin typeface="Times New Roman" panose="02020603050405020304" pitchFamily="18" charset="0"/>
                <a:cs typeface="Times New Roman" panose="02020603050405020304" pitchFamily="18" charset="0"/>
              </a:rPr>
              <a:t>10211CS224 / FULL STACK APPLICATION DEVELOPMENT</a:t>
            </a:r>
            <a:endParaRPr lang="en-IN" sz="2800" b="1" dirty="0">
              <a:solidFill>
                <a:srgbClr val="0033CC"/>
              </a:solidFill>
              <a:latin typeface="Times New Roman" panose="02020603050405020304" pitchFamily="18" charset="0"/>
              <a:cs typeface="Times New Roman" panose="02020603050405020304" pitchFamily="18" charset="0"/>
            </a:endParaRPr>
          </a:p>
        </p:txBody>
      </p:sp>
      <p:sp>
        <p:nvSpPr>
          <p:cNvPr id="27" name="TextBox 26">
            <a:extLst>
              <a:ext uri="{FF2B5EF4-FFF2-40B4-BE49-F238E27FC236}">
                <a16:creationId xmlns:a16="http://schemas.microsoft.com/office/drawing/2014/main" id="{AC6C53BF-3850-6683-E07F-D595EC8B02B2}"/>
              </a:ext>
            </a:extLst>
          </p:cNvPr>
          <p:cNvSpPr txBox="1"/>
          <p:nvPr/>
        </p:nvSpPr>
        <p:spPr>
          <a:xfrm>
            <a:off x="3727757" y="3897940"/>
            <a:ext cx="11190289" cy="1754326"/>
          </a:xfrm>
          <a:prstGeom prst="rect">
            <a:avLst/>
          </a:prstGeom>
          <a:noFill/>
        </p:spPr>
        <p:txBody>
          <a:bodyPr wrap="square" rtlCol="0">
            <a:spAutoFit/>
          </a:bodyPr>
          <a:lstStyle/>
          <a:p>
            <a:pPr algn="ctr"/>
            <a:r>
              <a:rPr lang="en-IN" sz="3600" b="1" dirty="0">
                <a:solidFill>
                  <a:srgbClr val="C00000"/>
                </a:solidFill>
                <a:latin typeface="Times New Roman" panose="02020603050405020304" pitchFamily="18" charset="0"/>
                <a:cs typeface="Times New Roman" panose="02020603050405020304" pitchFamily="18" charset="0"/>
              </a:rPr>
              <a:t>PROJECT REVIEW : MILESTONE PROJECT – 2</a:t>
            </a:r>
          </a:p>
          <a:p>
            <a:pPr algn="ctr"/>
            <a:endParaRPr lang="en-IN" sz="3600" b="1" dirty="0">
              <a:solidFill>
                <a:srgbClr val="C00000"/>
              </a:solidFill>
              <a:latin typeface="Times New Roman" panose="02020603050405020304" pitchFamily="18" charset="0"/>
              <a:cs typeface="Times New Roman" panose="02020603050405020304" pitchFamily="18" charset="0"/>
            </a:endParaRPr>
          </a:p>
          <a:p>
            <a:pPr algn="ctr"/>
            <a:r>
              <a:rPr lang="en-IN" sz="3600" b="1" dirty="0">
                <a:solidFill>
                  <a:srgbClr val="C00000"/>
                </a:solidFill>
                <a:latin typeface="Times New Roman" panose="02020603050405020304" pitchFamily="18" charset="0"/>
                <a:cs typeface="Times New Roman" panose="02020603050405020304" pitchFamily="18" charset="0"/>
              </a:rPr>
              <a:t>Date: 20-04-2026</a:t>
            </a:r>
          </a:p>
        </p:txBody>
      </p:sp>
      <p:sp>
        <p:nvSpPr>
          <p:cNvPr id="13" name="TextBox 12">
            <a:extLst>
              <a:ext uri="{FF2B5EF4-FFF2-40B4-BE49-F238E27FC236}">
                <a16:creationId xmlns:a16="http://schemas.microsoft.com/office/drawing/2014/main" id="{7FFE0DA2-4723-7C13-5FD7-FC99B0394DDD}"/>
              </a:ext>
            </a:extLst>
          </p:cNvPr>
          <p:cNvSpPr txBox="1"/>
          <p:nvPr/>
        </p:nvSpPr>
        <p:spPr>
          <a:xfrm>
            <a:off x="1501640" y="5895082"/>
            <a:ext cx="15784162" cy="584775"/>
          </a:xfrm>
          <a:prstGeom prst="rect">
            <a:avLst/>
          </a:prstGeom>
          <a:noFill/>
        </p:spPr>
        <p:txBody>
          <a:bodyPr wrap="square" rtlCol="0">
            <a:spAutoFit/>
          </a:bodyPr>
          <a:lstStyle/>
          <a:p>
            <a:pPr algn="ctr"/>
            <a:r>
              <a:rPr lang="en-US" sz="3200" b="1" dirty="0">
                <a:solidFill>
                  <a:srgbClr val="0033CC"/>
                </a:solidFill>
                <a:latin typeface="Times New Roman" panose="02020603050405020304" pitchFamily="18" charset="0"/>
                <a:cs typeface="Times New Roman" panose="02020603050405020304" pitchFamily="18" charset="0"/>
              </a:rPr>
              <a:t>Smart Event Management &amp; Ticket Booking System for Campus Events  </a:t>
            </a:r>
            <a:endParaRPr lang="en-IN" sz="3200" b="1" dirty="0">
              <a:solidFill>
                <a:srgbClr val="0033CC"/>
              </a:solidFill>
              <a:latin typeface="Times New Roman" panose="02020603050405020304" pitchFamily="18" charset="0"/>
              <a:cs typeface="Times New Roman" panose="02020603050405020304" pitchFamily="18" charset="0"/>
            </a:endParaRPr>
          </a:p>
        </p:txBody>
      </p:sp>
      <p:sp>
        <p:nvSpPr>
          <p:cNvPr id="14" name="TextBox 13">
            <a:extLst>
              <a:ext uri="{FF2B5EF4-FFF2-40B4-BE49-F238E27FC236}">
                <a16:creationId xmlns:a16="http://schemas.microsoft.com/office/drawing/2014/main" id="{EA8EEF4A-EB43-B7D9-87FC-7C7D752BCA78}"/>
              </a:ext>
            </a:extLst>
          </p:cNvPr>
          <p:cNvSpPr txBox="1"/>
          <p:nvPr/>
        </p:nvSpPr>
        <p:spPr>
          <a:xfrm>
            <a:off x="893870" y="7800539"/>
            <a:ext cx="9067800" cy="1391663"/>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Presented</a:t>
            </a:r>
            <a:r>
              <a:rPr lang="en-US" sz="3000" b="1" dirty="0">
                <a:latin typeface="Cambria" panose="02040503050406030204" pitchFamily="18" charset="0"/>
                <a:ea typeface="Cambria" panose="02040503050406030204" pitchFamily="18" charset="0"/>
              </a:rPr>
              <a:t> By:</a:t>
            </a:r>
          </a:p>
          <a:p>
            <a:pPr>
              <a:lnSpc>
                <a:spcPct val="150000"/>
              </a:lnSpc>
            </a:pPr>
            <a:r>
              <a:rPr lang="en-US" sz="3000" dirty="0">
                <a:latin typeface="Cambria" panose="02040503050406030204" pitchFamily="18" charset="0"/>
                <a:ea typeface="Cambria" panose="02040503050406030204" pitchFamily="18" charset="0"/>
              </a:rPr>
              <a:t>S.PRAVALLIKA – VTU25243 – 23UECS0510</a:t>
            </a:r>
            <a:endParaRPr lang="en-IN" sz="3000" dirty="0">
              <a:latin typeface="Cambria" panose="02040503050406030204" pitchFamily="18" charset="0"/>
              <a:ea typeface="Cambria" panose="02040503050406030204" pitchFamily="18" charset="0"/>
            </a:endParaRPr>
          </a:p>
        </p:txBody>
      </p:sp>
      <p:sp>
        <p:nvSpPr>
          <p:cNvPr id="15" name="TextBox 14">
            <a:extLst>
              <a:ext uri="{FF2B5EF4-FFF2-40B4-BE49-F238E27FC236}">
                <a16:creationId xmlns:a16="http://schemas.microsoft.com/office/drawing/2014/main" id="{6FF32D1A-2F9C-AC53-CCBD-ABF748DF236F}"/>
              </a:ext>
            </a:extLst>
          </p:cNvPr>
          <p:cNvSpPr txBox="1"/>
          <p:nvPr/>
        </p:nvSpPr>
        <p:spPr>
          <a:xfrm>
            <a:off x="11506200" y="7818586"/>
            <a:ext cx="6705600" cy="2776658"/>
          </a:xfrm>
          <a:prstGeom prst="rect">
            <a:avLst/>
          </a:prstGeom>
          <a:noFill/>
        </p:spPr>
        <p:txBody>
          <a:bodyPr wrap="square" rtlCol="0">
            <a:spAutoFit/>
          </a:bodyPr>
          <a:lstStyle/>
          <a:p>
            <a:pPr>
              <a:lnSpc>
                <a:spcPct val="150000"/>
              </a:lnSpc>
            </a:pPr>
            <a:r>
              <a:rPr lang="en-US" sz="3000" b="1" dirty="0">
                <a:latin typeface="Times New Roman" panose="02020603050405020304" pitchFamily="18" charset="0"/>
                <a:ea typeface="Cambria" panose="02040503050406030204" pitchFamily="18" charset="0"/>
                <a:cs typeface="Times New Roman" panose="02020603050405020304" pitchFamily="18" charset="0"/>
              </a:rPr>
              <a:t>Courses Handling Faculty:</a:t>
            </a:r>
          </a:p>
          <a:p>
            <a:pPr>
              <a:lnSpc>
                <a:spcPct val="150000"/>
              </a:lnSpc>
            </a:pPr>
            <a:r>
              <a:rPr lang="en-US" sz="3000" dirty="0">
                <a:latin typeface="Cambria" panose="02040503050406030204" pitchFamily="18" charset="0"/>
                <a:ea typeface="Cambria" panose="02040503050406030204" pitchFamily="18" charset="0"/>
              </a:rPr>
              <a:t>Dr. S. Hemamalini, </a:t>
            </a:r>
            <a:r>
              <a:rPr lang="en-US" sz="3000" dirty="0" err="1">
                <a:latin typeface="Cambria" panose="02040503050406030204" pitchFamily="18" charset="0"/>
                <a:ea typeface="Cambria" panose="02040503050406030204" pitchFamily="18" charset="0"/>
              </a:rPr>
              <a:t>Assistant.Professor</a:t>
            </a:r>
            <a:endParaRPr lang="en-US" sz="3000" dirty="0">
              <a:latin typeface="Cambria" panose="02040503050406030204" pitchFamily="18" charset="0"/>
              <a:ea typeface="Cambria" panose="02040503050406030204" pitchFamily="18" charset="0"/>
            </a:endParaRPr>
          </a:p>
          <a:p>
            <a:pPr>
              <a:lnSpc>
                <a:spcPct val="150000"/>
              </a:lnSpc>
            </a:pPr>
            <a:r>
              <a:rPr lang="en-US" sz="3000" dirty="0">
                <a:latin typeface="Cambria" panose="02040503050406030204" pitchFamily="18" charset="0"/>
                <a:ea typeface="Cambria" panose="02040503050406030204" pitchFamily="18" charset="0"/>
              </a:rPr>
              <a:t>(Sr Grade)-</a:t>
            </a:r>
            <a:r>
              <a:rPr lang="en-US" sz="3000" dirty="0" err="1">
                <a:latin typeface="Cambria" panose="02040503050406030204" pitchFamily="18" charset="0"/>
                <a:ea typeface="Cambria" panose="02040503050406030204" pitchFamily="18" charset="0"/>
              </a:rPr>
              <a:t>M.E,ph.D</a:t>
            </a:r>
            <a:endParaRPr lang="en-IN" sz="3000" dirty="0">
              <a:latin typeface="Cambria" panose="02040503050406030204" pitchFamily="18" charset="0"/>
              <a:ea typeface="Cambria" panose="02040503050406030204" pitchFamily="18" charset="0"/>
            </a:endParaRPr>
          </a:p>
          <a:p>
            <a:pPr>
              <a:lnSpc>
                <a:spcPct val="150000"/>
              </a:lnSpc>
            </a:pPr>
            <a:endParaRPr lang="en-IN" sz="3000" dirty="0">
              <a:latin typeface="Cambria" panose="02040503050406030204" pitchFamily="18" charset="0"/>
              <a:ea typeface="Cambria" panose="02040503050406030204" pitchFamily="18" charset="0"/>
            </a:endParaRPr>
          </a:p>
        </p:txBody>
      </p:sp>
      <p:sp>
        <p:nvSpPr>
          <p:cNvPr id="16" name="TextBox 15">
            <a:extLst>
              <a:ext uri="{FF2B5EF4-FFF2-40B4-BE49-F238E27FC236}">
                <a16:creationId xmlns:a16="http://schemas.microsoft.com/office/drawing/2014/main" id="{A7AA51DE-E8D7-A1B4-BC0D-B25C8A0C467A}"/>
              </a:ext>
            </a:extLst>
          </p:cNvPr>
          <p:cNvSpPr txBox="1"/>
          <p:nvPr/>
        </p:nvSpPr>
        <p:spPr>
          <a:xfrm>
            <a:off x="2209800" y="6972300"/>
            <a:ext cx="14743170" cy="1015663"/>
          </a:xfrm>
          <a:prstGeom prst="rect">
            <a:avLst/>
          </a:prstGeom>
          <a:noFill/>
        </p:spPr>
        <p:txBody>
          <a:bodyPr wrap="square" rtlCol="0">
            <a:spAutoFit/>
          </a:bodyPr>
          <a:lstStyle/>
          <a:p>
            <a:r>
              <a:rPr lang="en-US" sz="2000" dirty="0">
                <a:latin typeface="Times New Roman" panose="02020603050405020304" pitchFamily="18" charset="0"/>
                <a:cs typeface="Times New Roman" panose="02020603050405020304" pitchFamily="18" charset="0"/>
              </a:rPr>
              <a:t>SDG: 9 – Industry , Innovation and Infrastructure</a:t>
            </a:r>
          </a:p>
          <a:p>
            <a:r>
              <a:rPr lang="en-US" sz="2000" dirty="0">
                <a:latin typeface="Times New Roman" panose="02020603050405020304" pitchFamily="18" charset="0"/>
                <a:cs typeface="Times New Roman" panose="02020603050405020304" pitchFamily="18" charset="0"/>
              </a:rPr>
              <a:t>SDG: 12- Responsible Consumption and Production</a:t>
            </a:r>
            <a:endParaRPr lang="en-IN" sz="2000" b="1" dirty="0">
              <a:latin typeface="Times New Roman" panose="02020603050405020304" pitchFamily="18" charset="0"/>
              <a:ea typeface="Cambria" panose="02040503050406030204" pitchFamily="18" charset="0"/>
              <a:cs typeface="Times New Roman" panose="02020603050405020304" pitchFamily="18" charset="0"/>
            </a:endParaRPr>
          </a:p>
          <a:p>
            <a:endParaRPr lang="en-IN" sz="2000" b="1" dirty="0">
              <a:latin typeface="Times New Roman" panose="02020603050405020304" pitchFamily="18" charset="0"/>
              <a:ea typeface="Cambria" panose="02040503050406030204" pitchFamily="18" charset="0"/>
              <a:cs typeface="Times New Roman" panose="02020603050405020304" pitchFamily="18"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8" name="Freeform 8"/>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9" name="Group 9"/>
          <p:cNvGrpSpPr/>
          <p:nvPr/>
        </p:nvGrpSpPr>
        <p:grpSpPr>
          <a:xfrm>
            <a:off x="706082" y="1952203"/>
            <a:ext cx="992463" cy="992463"/>
            <a:chOff x="0" y="0"/>
            <a:chExt cx="812800" cy="812800"/>
          </a:xfrm>
        </p:grpSpPr>
        <p:sp>
          <p:nvSpPr>
            <p:cNvPr id="10" name="Freeform 1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1" name="TextBox 1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1</a:t>
              </a:r>
            </a:p>
          </p:txBody>
        </p:sp>
      </p:grpSp>
      <p:grpSp>
        <p:nvGrpSpPr>
          <p:cNvPr id="12" name="Group 12"/>
          <p:cNvGrpSpPr/>
          <p:nvPr/>
        </p:nvGrpSpPr>
        <p:grpSpPr>
          <a:xfrm>
            <a:off x="948235" y="4447339"/>
            <a:ext cx="508158" cy="543805"/>
            <a:chOff x="0" y="0"/>
            <a:chExt cx="812800" cy="869819"/>
          </a:xfrm>
        </p:grpSpPr>
        <p:sp>
          <p:nvSpPr>
            <p:cNvPr id="13" name="Freeform 1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4" name="TextBox 1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5" name="Group 15"/>
          <p:cNvGrpSpPr/>
          <p:nvPr/>
        </p:nvGrpSpPr>
        <p:grpSpPr>
          <a:xfrm>
            <a:off x="948235" y="3107362"/>
            <a:ext cx="508158" cy="543805"/>
            <a:chOff x="0" y="0"/>
            <a:chExt cx="812800" cy="869819"/>
          </a:xfrm>
        </p:grpSpPr>
        <p:sp>
          <p:nvSpPr>
            <p:cNvPr id="16" name="Freeform 1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7" name="TextBox 1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dirty="0">
                  <a:solidFill>
                    <a:srgbClr val="191919"/>
                  </a:solidFill>
                  <a:latin typeface="Gotham"/>
                  <a:ea typeface="Gotham"/>
                  <a:cs typeface="Gotham"/>
                  <a:sym typeface="Gotham"/>
                </a:rPr>
                <a:t>2</a:t>
              </a:r>
            </a:p>
          </p:txBody>
        </p:sp>
      </p:grpSp>
      <p:grpSp>
        <p:nvGrpSpPr>
          <p:cNvPr id="18" name="Group 18"/>
          <p:cNvGrpSpPr/>
          <p:nvPr/>
        </p:nvGrpSpPr>
        <p:grpSpPr>
          <a:xfrm>
            <a:off x="948235" y="5115753"/>
            <a:ext cx="508158" cy="543805"/>
            <a:chOff x="0" y="0"/>
            <a:chExt cx="812800" cy="869819"/>
          </a:xfrm>
        </p:grpSpPr>
        <p:sp>
          <p:nvSpPr>
            <p:cNvPr id="19" name="Freeform 1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0" name="TextBox 2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1" name="Group 21"/>
          <p:cNvGrpSpPr/>
          <p:nvPr/>
        </p:nvGrpSpPr>
        <p:grpSpPr>
          <a:xfrm>
            <a:off x="948235" y="3776486"/>
            <a:ext cx="508158" cy="543805"/>
            <a:chOff x="0" y="0"/>
            <a:chExt cx="812800" cy="869819"/>
          </a:xfrm>
        </p:grpSpPr>
        <p:sp>
          <p:nvSpPr>
            <p:cNvPr id="22" name="Freeform 2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3" name="TextBox 2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4" name="Group 24"/>
          <p:cNvGrpSpPr/>
          <p:nvPr/>
        </p:nvGrpSpPr>
        <p:grpSpPr>
          <a:xfrm>
            <a:off x="948235" y="6455730"/>
            <a:ext cx="508158" cy="543805"/>
            <a:chOff x="0" y="0"/>
            <a:chExt cx="812800" cy="869819"/>
          </a:xfrm>
        </p:grpSpPr>
        <p:sp>
          <p:nvSpPr>
            <p:cNvPr id="25" name="Freeform 2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6" name="TextBox 2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7" name="Group 27"/>
          <p:cNvGrpSpPr/>
          <p:nvPr/>
        </p:nvGrpSpPr>
        <p:grpSpPr>
          <a:xfrm>
            <a:off x="948235" y="5784877"/>
            <a:ext cx="508158" cy="543805"/>
            <a:chOff x="0" y="0"/>
            <a:chExt cx="812800" cy="869819"/>
          </a:xfrm>
        </p:grpSpPr>
        <p:sp>
          <p:nvSpPr>
            <p:cNvPr id="28" name="Freeform 2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9" name="TextBox 2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48235" y="7123361"/>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48235" y="7790991"/>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2" name="TextBox 1">
            <a:extLst>
              <a:ext uri="{FF2B5EF4-FFF2-40B4-BE49-F238E27FC236}">
                <a16:creationId xmlns:a16="http://schemas.microsoft.com/office/drawing/2014/main" id="{DE796552-E8BF-2718-F921-20F9BAE7EE98}"/>
              </a:ext>
            </a:extLst>
          </p:cNvPr>
          <p:cNvSpPr txBox="1"/>
          <p:nvPr/>
        </p:nvSpPr>
        <p:spPr>
          <a:xfrm>
            <a:off x="152400" y="342900"/>
            <a:ext cx="181356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INTRODUCTION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 name="TextBox 2">
            <a:extLst>
              <a:ext uri="{FF2B5EF4-FFF2-40B4-BE49-F238E27FC236}">
                <a16:creationId xmlns:a16="http://schemas.microsoft.com/office/drawing/2014/main" id="{837E9E58-77B6-079D-9D0D-E380CADAD23D}"/>
              </a:ext>
            </a:extLst>
          </p:cNvPr>
          <p:cNvSpPr txBox="1"/>
          <p:nvPr/>
        </p:nvSpPr>
        <p:spPr>
          <a:xfrm>
            <a:off x="2401634" y="2353548"/>
            <a:ext cx="15082325" cy="7848302"/>
          </a:xfrm>
          <a:prstGeom prst="rect">
            <a:avLst/>
          </a:prstGeom>
          <a:noFill/>
        </p:spPr>
        <p:txBody>
          <a:bodyPr wrap="square" rtlCol="0">
            <a:spAutoFit/>
          </a:bodyPr>
          <a:lstStyle/>
          <a:p>
            <a:pPr marL="571500" indent="-571500">
              <a:buFont typeface="Wingdings" panose="05000000000000000000" pitchFamily="2" charset="2"/>
              <a:buChar char="q"/>
            </a:pPr>
            <a:r>
              <a:rPr lang="en-US" sz="2800" dirty="0">
                <a:latin typeface="Times New Roman" panose="02020603050405020304" pitchFamily="18" charset="0"/>
                <a:cs typeface="Times New Roman" panose="02020603050405020304" pitchFamily="18" charset="0"/>
              </a:rPr>
              <a:t>The </a:t>
            </a:r>
            <a:r>
              <a:rPr lang="en-US" sz="2800" b="1" dirty="0">
                <a:latin typeface="Times New Roman" panose="02020603050405020304" pitchFamily="18" charset="0"/>
                <a:cs typeface="Times New Roman" panose="02020603050405020304" pitchFamily="18" charset="0"/>
              </a:rPr>
              <a:t>Event Ticket Booking System</a:t>
            </a:r>
            <a:r>
              <a:rPr lang="en-US" sz="2800" dirty="0">
                <a:latin typeface="Times New Roman" panose="02020603050405020304" pitchFamily="18" charset="0"/>
                <a:cs typeface="Times New Roman" panose="02020603050405020304" pitchFamily="18" charset="0"/>
              </a:rPr>
              <a:t> is a web-based application developed using React JS and Node.js.</a:t>
            </a:r>
          </a:p>
          <a:p>
            <a:r>
              <a:rPr lang="en-US" sz="2800" b="1" dirty="0">
                <a:latin typeface="Times New Roman" panose="02020603050405020304" pitchFamily="18" charset="0"/>
                <a:cs typeface="Times New Roman" panose="02020603050405020304" pitchFamily="18" charset="0"/>
              </a:rPr>
              <a:t>    The system allows users to:</a:t>
            </a:r>
          </a:p>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View available events </a:t>
            </a:r>
          </a:p>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Select event and book tickets </a:t>
            </a:r>
          </a:p>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Enter student details </a:t>
            </a:r>
          </a:p>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Proceed to payment </a:t>
            </a:r>
          </a:p>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Get booking confirmation </a:t>
            </a:r>
          </a:p>
          <a:p>
            <a:r>
              <a:rPr lang="en-US" sz="2800" b="1" dirty="0">
                <a:latin typeface="Times New Roman" panose="02020603050405020304" pitchFamily="18" charset="0"/>
                <a:cs typeface="Times New Roman" panose="02020603050405020304" pitchFamily="18" charset="0"/>
              </a:rPr>
              <a:t>     Admin can:</a:t>
            </a:r>
          </a:p>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Add events </a:t>
            </a:r>
          </a:p>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Delete events </a:t>
            </a:r>
          </a:p>
          <a:p>
            <a:pPr marL="571500" indent="-5715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View student bookings</a:t>
            </a: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10" name="Freeform 10"/>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11" name="Group 11"/>
          <p:cNvGrpSpPr/>
          <p:nvPr/>
        </p:nvGrpSpPr>
        <p:grpSpPr>
          <a:xfrm>
            <a:off x="709357" y="2648112"/>
            <a:ext cx="992463" cy="992463"/>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3" name="TextBox 13"/>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2</a:t>
              </a:r>
            </a:p>
          </p:txBody>
        </p:sp>
      </p:grpSp>
      <p:grpSp>
        <p:nvGrpSpPr>
          <p:cNvPr id="14" name="Group 14"/>
          <p:cNvGrpSpPr/>
          <p:nvPr/>
        </p:nvGrpSpPr>
        <p:grpSpPr>
          <a:xfrm>
            <a:off x="951509" y="4428296"/>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1982349"/>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0" name="Group 20"/>
          <p:cNvGrpSpPr/>
          <p:nvPr/>
        </p:nvGrpSpPr>
        <p:grpSpPr>
          <a:xfrm>
            <a:off x="951509" y="509405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3" name="Group 23"/>
          <p:cNvGrpSpPr/>
          <p:nvPr/>
        </p:nvGrpSpPr>
        <p:grpSpPr>
          <a:xfrm>
            <a:off x="951509" y="376253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6" name="Group 26"/>
          <p:cNvGrpSpPr/>
          <p:nvPr/>
        </p:nvGrpSpPr>
        <p:grpSpPr>
          <a:xfrm>
            <a:off x="951509" y="6425585"/>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p:cNvGrpSpPr/>
          <p:nvPr/>
        </p:nvGrpSpPr>
        <p:grpSpPr>
          <a:xfrm>
            <a:off x="951509" y="5759822"/>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6" name="Group 36"/>
          <p:cNvGrpSpPr/>
          <p:nvPr/>
        </p:nvGrpSpPr>
        <p:grpSpPr>
          <a:xfrm>
            <a:off x="951509" y="7093216"/>
            <a:ext cx="508158" cy="543805"/>
            <a:chOff x="0" y="0"/>
            <a:chExt cx="812800" cy="869819"/>
          </a:xfrm>
        </p:grpSpPr>
        <p:sp>
          <p:nvSpPr>
            <p:cNvPr id="37" name="Freeform 3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8" name="TextBox 3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9" name="Group 39"/>
          <p:cNvGrpSpPr/>
          <p:nvPr/>
        </p:nvGrpSpPr>
        <p:grpSpPr>
          <a:xfrm>
            <a:off x="951509" y="7760846"/>
            <a:ext cx="508158" cy="543805"/>
            <a:chOff x="0" y="0"/>
            <a:chExt cx="812800" cy="869819"/>
          </a:xfrm>
        </p:grpSpPr>
        <p:sp>
          <p:nvSpPr>
            <p:cNvPr id="40" name="Freeform 4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1" name="TextBox 4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7" name="TextBox 46">
            <a:extLst>
              <a:ext uri="{FF2B5EF4-FFF2-40B4-BE49-F238E27FC236}">
                <a16:creationId xmlns:a16="http://schemas.microsoft.com/office/drawing/2014/main" id="{A8A7B8E9-D90B-1CF8-14D3-8D2483CAFC5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PROBLEM STATEMENT</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BDE2941C-1504-53F9-99B2-48002CA9A345}"/>
              </a:ext>
            </a:extLst>
          </p:cNvPr>
          <p:cNvSpPr txBox="1"/>
          <p:nvPr/>
        </p:nvSpPr>
        <p:spPr>
          <a:xfrm>
            <a:off x="2256624" y="1945228"/>
            <a:ext cx="15082325" cy="12588061"/>
          </a:xfrm>
          <a:prstGeom prst="rect">
            <a:avLst/>
          </a:prstGeom>
          <a:noFill/>
        </p:spPr>
        <p:txBody>
          <a:bodyPr wrap="square" rtlCol="0">
            <a:spAutoFit/>
          </a:bodyPr>
          <a:lstStyle/>
          <a:p>
            <a:r>
              <a:rPr lang="en-US" sz="2800" dirty="0">
                <a:latin typeface="Times New Roman" panose="02020603050405020304" pitchFamily="18" charset="0"/>
                <a:cs typeface="Times New Roman" panose="02020603050405020304" pitchFamily="18" charset="0"/>
              </a:rPr>
              <a:t>Manual event booking systems are inefficient and lack proper organization, leading to difficulties in managing events and tracking participants. There is no centralized platform to handle bookings, resulting in errors, duplication, and lack of real-time updates. Therefore, an automated system is required to streamline the booking process, manage data efficiently, and provide better control for administrators.</a:t>
            </a:r>
          </a:p>
          <a:p>
            <a:pPr marL="457200" indent="-457200">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Manual event booking leads to:</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No centralized system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Ticket mismanagement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Data duplication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No proper tracking of students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No real-time availability </a:t>
            </a:r>
          </a:p>
          <a:p>
            <a:pPr marL="457200" indent="-457200">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So, there is a need for:</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Automated booking process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Centralized data storage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Real-time updates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Admin management system</a:t>
            </a: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09357" y="3315742"/>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3</a:t>
              </a:r>
            </a:p>
          </p:txBody>
        </p:sp>
      </p:grpSp>
      <p:grpSp>
        <p:nvGrpSpPr>
          <p:cNvPr id="10" name="Group 10"/>
          <p:cNvGrpSpPr/>
          <p:nvPr/>
        </p:nvGrpSpPr>
        <p:grpSpPr>
          <a:xfrm>
            <a:off x="951509" y="4428296"/>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3" name="Group 13"/>
          <p:cNvGrpSpPr/>
          <p:nvPr/>
        </p:nvGrpSpPr>
        <p:grpSpPr>
          <a:xfrm>
            <a:off x="951509"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51509" y="5094059"/>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19" name="Group 19"/>
          <p:cNvGrpSpPr/>
          <p:nvPr/>
        </p:nvGrpSpPr>
        <p:grpSpPr>
          <a:xfrm>
            <a:off x="951509"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51509" y="6425585"/>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5" name="Group 25"/>
          <p:cNvGrpSpPr/>
          <p:nvPr/>
        </p:nvGrpSpPr>
        <p:grpSpPr>
          <a:xfrm>
            <a:off x="951509" y="575982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41" name="Group 41"/>
          <p:cNvGrpSpPr/>
          <p:nvPr/>
        </p:nvGrpSpPr>
        <p:grpSpPr>
          <a:xfrm>
            <a:off x="951509" y="7093216"/>
            <a:ext cx="508158" cy="543805"/>
            <a:chOff x="0" y="0"/>
            <a:chExt cx="812800" cy="869819"/>
          </a:xfrm>
        </p:grpSpPr>
        <p:sp>
          <p:nvSpPr>
            <p:cNvPr id="42" name="Freeform 4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3" name="TextBox 4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4" name="Group 44"/>
          <p:cNvGrpSpPr/>
          <p:nvPr/>
        </p:nvGrpSpPr>
        <p:grpSpPr>
          <a:xfrm>
            <a:off x="951509" y="7760846"/>
            <a:ext cx="508158" cy="543805"/>
            <a:chOff x="0" y="0"/>
            <a:chExt cx="812800" cy="869819"/>
          </a:xfrm>
        </p:grpSpPr>
        <p:sp>
          <p:nvSpPr>
            <p:cNvPr id="45" name="Freeform 4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6" name="TextBox 4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50" name="TextBox 49">
            <a:extLst>
              <a:ext uri="{FF2B5EF4-FFF2-40B4-BE49-F238E27FC236}">
                <a16:creationId xmlns:a16="http://schemas.microsoft.com/office/drawing/2014/main" id="{5B915D36-EE4F-CB45-6DD3-E1B9C803EB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OBJECTIVE(S)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1" name="Freeform 10">
            <a:extLst>
              <a:ext uri="{FF2B5EF4-FFF2-40B4-BE49-F238E27FC236}">
                <a16:creationId xmlns:a16="http://schemas.microsoft.com/office/drawing/2014/main" id="{CC7EEF9B-9155-23B5-AEE9-85067B6C258B}"/>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2" name="Rectangle 1">
            <a:extLst>
              <a:ext uri="{FF2B5EF4-FFF2-40B4-BE49-F238E27FC236}">
                <a16:creationId xmlns:a16="http://schemas.microsoft.com/office/drawing/2014/main" id="{13F666A2-BCA9-BDB1-ADC2-F70931AF0D9E}"/>
              </a:ext>
            </a:extLst>
          </p:cNvPr>
          <p:cNvSpPr>
            <a:spLocks noChangeArrowheads="1"/>
          </p:cNvSpPr>
          <p:nvPr/>
        </p:nvSpPr>
        <p:spPr bwMode="auto">
          <a:xfrm>
            <a:off x="1905000" y="2496562"/>
            <a:ext cx="248786"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tabLst/>
            </a:pPr>
            <a:r>
              <a:rPr kumimoji="0" lang="en-US" altLang="en-US" sz="1800" b="0" i="0" u="none" strike="noStrike" cap="none" normalizeH="0" baseline="0" dirty="0">
                <a:ln>
                  <a:noFill/>
                </a:ln>
                <a:solidFill>
                  <a:schemeClr val="tx1"/>
                </a:solidFill>
                <a:effectLst/>
                <a:latin typeface="Arial" panose="020B0604020202020204" pitchFamily="34" charset="0"/>
              </a:rPr>
              <a:t>.</a:t>
            </a:r>
          </a:p>
        </p:txBody>
      </p:sp>
      <p:sp>
        <p:nvSpPr>
          <p:cNvPr id="3" name="Rectangle 1">
            <a:extLst>
              <a:ext uri="{FF2B5EF4-FFF2-40B4-BE49-F238E27FC236}">
                <a16:creationId xmlns:a16="http://schemas.microsoft.com/office/drawing/2014/main" id="{8D3C2A77-A92C-CFBD-E1DE-B17D24D12384}"/>
              </a:ext>
            </a:extLst>
          </p:cNvPr>
          <p:cNvSpPr>
            <a:spLocks noChangeArrowheads="1"/>
          </p:cNvSpPr>
          <p:nvPr/>
        </p:nvSpPr>
        <p:spPr bwMode="auto">
          <a:xfrm>
            <a:off x="2971800" y="2679372"/>
            <a:ext cx="11201400" cy="267765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develop a React-based ticket booking UI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implement event booking system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store event &amp; booking data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provide admin control panel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implement payment simulation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To display booking confirmation </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3" name="Group 13"/>
          <p:cNvGrpSpPr/>
          <p:nvPr/>
        </p:nvGrpSpPr>
        <p:grpSpPr>
          <a:xfrm>
            <a:off x="709357" y="3983373"/>
            <a:ext cx="992463" cy="992463"/>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5" name="TextBox 15"/>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4</a:t>
              </a:r>
            </a:p>
          </p:txBody>
        </p:sp>
      </p:grpSp>
      <p:grpSp>
        <p:nvGrpSpPr>
          <p:cNvPr id="16" name="Group 16"/>
          <p:cNvGrpSpPr/>
          <p:nvPr/>
        </p:nvGrpSpPr>
        <p:grpSpPr>
          <a:xfrm>
            <a:off x="951509" y="3315742"/>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9" name="Group 19"/>
          <p:cNvGrpSpPr/>
          <p:nvPr/>
        </p:nvGrpSpPr>
        <p:grpSpPr>
          <a:xfrm>
            <a:off x="951509" y="1982349"/>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2" name="Group 22"/>
          <p:cNvGrpSpPr/>
          <p:nvPr/>
        </p:nvGrpSpPr>
        <p:grpSpPr>
          <a:xfrm>
            <a:off x="951509" y="5094059"/>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5" name="Group 25"/>
          <p:cNvGrpSpPr/>
          <p:nvPr/>
        </p:nvGrpSpPr>
        <p:grpSpPr>
          <a:xfrm>
            <a:off x="951509" y="2648112"/>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8" name="Group 28"/>
          <p:cNvGrpSpPr/>
          <p:nvPr/>
        </p:nvGrpSpPr>
        <p:grpSpPr>
          <a:xfrm>
            <a:off x="951509" y="6425585"/>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51509" y="575982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4" name="Group 34"/>
          <p:cNvGrpSpPr/>
          <p:nvPr/>
        </p:nvGrpSpPr>
        <p:grpSpPr>
          <a:xfrm>
            <a:off x="951509" y="7093216"/>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37" name="Group 37"/>
          <p:cNvGrpSpPr/>
          <p:nvPr/>
        </p:nvGrpSpPr>
        <p:grpSpPr>
          <a:xfrm>
            <a:off x="951509" y="776084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5" name="Freeform 10">
            <a:extLst>
              <a:ext uri="{FF2B5EF4-FFF2-40B4-BE49-F238E27FC236}">
                <a16:creationId xmlns:a16="http://schemas.microsoft.com/office/drawing/2014/main" id="{D5D1FD99-C9A7-927E-AD67-E70F11DBAAA2}"/>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5">
            <a:extLst>
              <a:ext uri="{FF2B5EF4-FFF2-40B4-BE49-F238E27FC236}">
                <a16:creationId xmlns:a16="http://schemas.microsoft.com/office/drawing/2014/main" id="{E7218D14-8F44-8040-8BFD-49A59591F527}"/>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E8F19716-1653-9AE0-442E-B3829A585B46}"/>
              </a:ext>
            </a:extLst>
          </p:cNvPr>
          <p:cNvSpPr txBox="1"/>
          <p:nvPr/>
        </p:nvSpPr>
        <p:spPr>
          <a:xfrm>
            <a:off x="2254166" y="2354816"/>
            <a:ext cx="15082325" cy="10002738"/>
          </a:xfrm>
          <a:prstGeom prst="rect">
            <a:avLst/>
          </a:prstGeom>
          <a:noFill/>
        </p:spPr>
        <p:txBody>
          <a:bodyPr wrap="square" rtlCol="0">
            <a:spAutoFit/>
          </a:bodyPr>
          <a:lstStyle/>
          <a:p>
            <a:pPr marL="457200" indent="-457200">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The proposed system is a React + Node.js web application</a:t>
            </a:r>
          </a:p>
          <a:p>
            <a:r>
              <a:rPr lang="en-US" sz="2800" b="1" dirty="0">
                <a:latin typeface="Times New Roman" panose="02020603050405020304" pitchFamily="18" charset="0"/>
                <a:cs typeface="Times New Roman" panose="02020603050405020304" pitchFamily="18" charset="0"/>
              </a:rPr>
              <a:t>      Features:</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Event listing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Ticket booking form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Payment page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Booking confirmation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Admin dashboard </a:t>
            </a:r>
          </a:p>
          <a:p>
            <a:r>
              <a:rPr lang="en-US" sz="2800" b="1" dirty="0">
                <a:latin typeface="Times New Roman" panose="02020603050405020304" pitchFamily="18" charset="0"/>
                <a:cs typeface="Times New Roman" panose="02020603050405020304" pitchFamily="18" charset="0"/>
              </a:rPr>
              <a:t>System automatically:</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Stores booking data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Displays event availability </a:t>
            </a:r>
          </a:p>
          <a:p>
            <a:pPr marL="457200" indent="-457200">
              <a:buFont typeface="Arial" panose="020B0604020202020204" pitchFamily="34" charset="0"/>
              <a:buChar char="•"/>
            </a:pPr>
            <a:r>
              <a:rPr lang="en-US" sz="2800" dirty="0">
                <a:latin typeface="Times New Roman" panose="02020603050405020304" pitchFamily="18" charset="0"/>
                <a:cs typeface="Times New Roman" panose="02020603050405020304" pitchFamily="18" charset="0"/>
              </a:rPr>
              <a:t>Shows confirmation after payment</a:t>
            </a: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US" sz="2800" dirty="0">
              <a:latin typeface="Times New Roman" panose="02020603050405020304" pitchFamily="18" charset="0"/>
              <a:cs typeface="Times New Roman" panose="02020603050405020304" pitchFamily="18" charset="0"/>
            </a:endParaRPr>
          </a:p>
          <a:p>
            <a:pPr marL="457200" indent="-457200">
              <a:buFontTx/>
              <a:buChar char="-"/>
            </a:pPr>
            <a:endParaRPr lang="en-IN"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5" name="Group 5"/>
          <p:cNvGrpSpPr/>
          <p:nvPr/>
        </p:nvGrpSpPr>
        <p:grpSpPr>
          <a:xfrm>
            <a:off x="709357" y="4655766"/>
            <a:ext cx="992463" cy="99246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5</a:t>
              </a:r>
            </a:p>
          </p:txBody>
        </p:sp>
      </p:grpSp>
      <p:grpSp>
        <p:nvGrpSpPr>
          <p:cNvPr id="8" name="Group 8"/>
          <p:cNvGrpSpPr/>
          <p:nvPr/>
        </p:nvGrpSpPr>
        <p:grpSpPr>
          <a:xfrm>
            <a:off x="951509" y="3320505"/>
            <a:ext cx="508158" cy="543805"/>
            <a:chOff x="0" y="0"/>
            <a:chExt cx="812800" cy="869819"/>
          </a:xfrm>
        </p:grpSpPr>
        <p:sp>
          <p:nvSpPr>
            <p:cNvPr id="9" name="Freeform 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p:cNvGrpSpPr/>
          <p:nvPr/>
        </p:nvGrpSpPr>
        <p:grpSpPr>
          <a:xfrm>
            <a:off x="951509" y="1987111"/>
            <a:ext cx="508158" cy="543805"/>
            <a:chOff x="0" y="0"/>
            <a:chExt cx="812800" cy="869819"/>
          </a:xfrm>
        </p:grpSpPr>
        <p:sp>
          <p:nvSpPr>
            <p:cNvPr id="12" name="Freeform 1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p:cNvGrpSpPr/>
          <p:nvPr/>
        </p:nvGrpSpPr>
        <p:grpSpPr>
          <a:xfrm>
            <a:off x="951509" y="3988135"/>
            <a:ext cx="508158" cy="543805"/>
            <a:chOff x="0" y="0"/>
            <a:chExt cx="812800" cy="869819"/>
          </a:xfrm>
        </p:grpSpPr>
        <p:sp>
          <p:nvSpPr>
            <p:cNvPr id="15" name="Freeform 1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p:cNvGrpSpPr/>
          <p:nvPr/>
        </p:nvGrpSpPr>
        <p:grpSpPr>
          <a:xfrm>
            <a:off x="951509" y="2652874"/>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p:cNvGrpSpPr/>
          <p:nvPr/>
        </p:nvGrpSpPr>
        <p:grpSpPr>
          <a:xfrm>
            <a:off x="951509" y="6430348"/>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3" name="Group 23"/>
          <p:cNvGrpSpPr/>
          <p:nvPr/>
        </p:nvGrpSpPr>
        <p:grpSpPr>
          <a:xfrm>
            <a:off x="951509" y="5764584"/>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6" name="Group 26"/>
          <p:cNvGrpSpPr/>
          <p:nvPr/>
        </p:nvGrpSpPr>
        <p:grpSpPr>
          <a:xfrm>
            <a:off x="951509" y="7088453"/>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29" name="Group 29"/>
          <p:cNvGrpSpPr/>
          <p:nvPr/>
        </p:nvGrpSpPr>
        <p:grpSpPr>
          <a:xfrm>
            <a:off x="951509" y="7756083"/>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grpSp>
        <p:nvGrpSpPr>
          <p:cNvPr id="37" name="Group 37"/>
          <p:cNvGrpSpPr/>
          <p:nvPr/>
        </p:nvGrpSpPr>
        <p:grpSpPr>
          <a:xfrm>
            <a:off x="11762088" y="-9632634"/>
            <a:ext cx="10994424" cy="10994424"/>
            <a:chOff x="0" y="0"/>
            <a:chExt cx="812800" cy="812800"/>
          </a:xfrm>
        </p:grpSpPr>
        <p:sp>
          <p:nvSpPr>
            <p:cNvPr id="38" name="Freeform 3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9" name="TextBox 39"/>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1" name="Freeform 10">
            <a:extLst>
              <a:ext uri="{FF2B5EF4-FFF2-40B4-BE49-F238E27FC236}">
                <a16:creationId xmlns:a16="http://schemas.microsoft.com/office/drawing/2014/main" id="{01BC0C31-7FCD-94EE-8B85-19FBC227565C}"/>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2" name="TextBox 41">
            <a:extLst>
              <a:ext uri="{FF2B5EF4-FFF2-40B4-BE49-F238E27FC236}">
                <a16:creationId xmlns:a16="http://schemas.microsoft.com/office/drawing/2014/main" id="{A4B3B85F-0C7B-16B9-6D50-94A4DFD2D192}"/>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PROPOSED SYSTEM ARCHITECTURE</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33" name="TextBox 32">
            <a:extLst>
              <a:ext uri="{FF2B5EF4-FFF2-40B4-BE49-F238E27FC236}">
                <a16:creationId xmlns:a16="http://schemas.microsoft.com/office/drawing/2014/main" id="{3C9200CC-FA9C-4D40-C497-D21B2F0338C6}"/>
              </a:ext>
            </a:extLst>
          </p:cNvPr>
          <p:cNvSpPr txBox="1"/>
          <p:nvPr/>
        </p:nvSpPr>
        <p:spPr>
          <a:xfrm>
            <a:off x="3962400" y="7360355"/>
            <a:ext cx="11511116" cy="2677656"/>
          </a:xfrm>
          <a:prstGeom prst="rect">
            <a:avLst/>
          </a:prstGeom>
          <a:noFill/>
        </p:spPr>
        <p:txBody>
          <a:bodyPr wrap="square">
            <a:spAutoFit/>
          </a:bodyPr>
          <a:lstStyle/>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User → React Frontend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React → Axios API Calls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Backend → Node.js (Express)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Data → Stored in server </a:t>
            </a:r>
          </a:p>
          <a:p>
            <a:br>
              <a:rPr lang="en-US" sz="2800" dirty="0">
                <a:latin typeface="Times New Roman" panose="02020603050405020304" pitchFamily="18" charset="0"/>
                <a:cs typeface="Times New Roman" panose="02020603050405020304" pitchFamily="18" charset="0"/>
              </a:rPr>
            </a:br>
            <a:endParaRPr lang="en-IN" sz="2800" dirty="0">
              <a:latin typeface="Times New Roman" panose="02020603050405020304" pitchFamily="18" charset="0"/>
              <a:cs typeface="Times New Roman" panose="02020603050405020304" pitchFamily="18" charset="0"/>
            </a:endParaRPr>
          </a:p>
        </p:txBody>
      </p:sp>
      <p:pic>
        <p:nvPicPr>
          <p:cNvPr id="3" name="Picture 2">
            <a:extLst>
              <a:ext uri="{FF2B5EF4-FFF2-40B4-BE49-F238E27FC236}">
                <a16:creationId xmlns:a16="http://schemas.microsoft.com/office/drawing/2014/main" id="{7424DEBA-F737-666E-E631-4BCCA8B38E55}"/>
              </a:ext>
            </a:extLst>
          </p:cNvPr>
          <p:cNvPicPr>
            <a:picLocks noChangeAspect="1"/>
          </p:cNvPicPr>
          <p:nvPr/>
        </p:nvPicPr>
        <p:blipFill>
          <a:blip r:embed="rId3"/>
          <a:srcRect l="370" t="15757" r="998" b="21485"/>
          <a:stretch>
            <a:fillRect/>
          </a:stretch>
        </p:blipFill>
        <p:spPr>
          <a:xfrm>
            <a:off x="3070737" y="1449127"/>
            <a:ext cx="13294441" cy="5639326"/>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4" name="Group 14"/>
          <p:cNvGrpSpPr/>
          <p:nvPr/>
        </p:nvGrpSpPr>
        <p:grpSpPr>
          <a:xfrm>
            <a:off x="735588" y="5318634"/>
            <a:ext cx="992463" cy="992463"/>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16" name="TextBox 16"/>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6</a:t>
              </a:r>
            </a:p>
          </p:txBody>
        </p:sp>
      </p:grpSp>
      <p:grpSp>
        <p:nvGrpSpPr>
          <p:cNvPr id="17" name="Group 17"/>
          <p:cNvGrpSpPr/>
          <p:nvPr/>
        </p:nvGrpSpPr>
        <p:grpSpPr>
          <a:xfrm>
            <a:off x="977741" y="3315742"/>
            <a:ext cx="508158" cy="543805"/>
            <a:chOff x="0" y="0"/>
            <a:chExt cx="812800" cy="869819"/>
          </a:xfrm>
        </p:grpSpPr>
        <p:sp>
          <p:nvSpPr>
            <p:cNvPr id="18" name="Freeform 1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0" name="Group 20"/>
          <p:cNvGrpSpPr/>
          <p:nvPr/>
        </p:nvGrpSpPr>
        <p:grpSpPr>
          <a:xfrm>
            <a:off x="977741" y="1982349"/>
            <a:ext cx="508158" cy="543805"/>
            <a:chOff x="0" y="0"/>
            <a:chExt cx="812800" cy="869819"/>
          </a:xfrm>
        </p:grpSpPr>
        <p:sp>
          <p:nvSpPr>
            <p:cNvPr id="21" name="Freeform 2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3" name="Group 23"/>
          <p:cNvGrpSpPr/>
          <p:nvPr/>
        </p:nvGrpSpPr>
        <p:grpSpPr>
          <a:xfrm>
            <a:off x="977741" y="3983373"/>
            <a:ext cx="508158" cy="543805"/>
            <a:chOff x="0" y="0"/>
            <a:chExt cx="812800" cy="869819"/>
          </a:xfrm>
        </p:grpSpPr>
        <p:sp>
          <p:nvSpPr>
            <p:cNvPr id="24" name="Freeform 2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26" name="Group 26"/>
          <p:cNvGrpSpPr/>
          <p:nvPr/>
        </p:nvGrpSpPr>
        <p:grpSpPr>
          <a:xfrm>
            <a:off x="977741" y="2648112"/>
            <a:ext cx="508158" cy="543805"/>
            <a:chOff x="0" y="0"/>
            <a:chExt cx="812800" cy="869819"/>
          </a:xfrm>
        </p:grpSpPr>
        <p:sp>
          <p:nvSpPr>
            <p:cNvPr id="27" name="Freeform 2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9" name="Group 29"/>
          <p:cNvGrpSpPr/>
          <p:nvPr/>
        </p:nvGrpSpPr>
        <p:grpSpPr>
          <a:xfrm>
            <a:off x="977741" y="6425585"/>
            <a:ext cx="508158" cy="543805"/>
            <a:chOff x="0" y="0"/>
            <a:chExt cx="812800" cy="869819"/>
          </a:xfrm>
        </p:grpSpPr>
        <p:sp>
          <p:nvSpPr>
            <p:cNvPr id="30" name="Freeform 3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2" name="Group 32"/>
          <p:cNvGrpSpPr/>
          <p:nvPr/>
        </p:nvGrpSpPr>
        <p:grpSpPr>
          <a:xfrm>
            <a:off x="977741" y="4651003"/>
            <a:ext cx="508158" cy="543805"/>
            <a:chOff x="0" y="0"/>
            <a:chExt cx="812800" cy="869819"/>
          </a:xfrm>
        </p:grpSpPr>
        <p:sp>
          <p:nvSpPr>
            <p:cNvPr id="33" name="Freeform 3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4" name="TextBox 3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37" name="Group 37"/>
          <p:cNvGrpSpPr/>
          <p:nvPr/>
        </p:nvGrpSpPr>
        <p:grpSpPr>
          <a:xfrm>
            <a:off x="977741" y="7093216"/>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0" name="Group 40"/>
          <p:cNvGrpSpPr/>
          <p:nvPr/>
        </p:nvGrpSpPr>
        <p:grpSpPr>
          <a:xfrm>
            <a:off x="977741" y="776084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663A130-069F-2D83-78E7-4DA0FE7AAC6E}"/>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1B156733-A733-69AA-7523-59650E125994}"/>
              </a:ext>
            </a:extLst>
          </p:cNvPr>
          <p:cNvSpPr txBox="1"/>
          <p:nvPr/>
        </p:nvSpPr>
        <p:spPr>
          <a:xfrm>
            <a:off x="190500" y="315938"/>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WORKFLOW</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50" name="TextBox 49">
            <a:extLst>
              <a:ext uri="{FF2B5EF4-FFF2-40B4-BE49-F238E27FC236}">
                <a16:creationId xmlns:a16="http://schemas.microsoft.com/office/drawing/2014/main" id="{D04F3B99-A5D2-54DC-51CD-4E86A99D3EA2}"/>
              </a:ext>
            </a:extLst>
          </p:cNvPr>
          <p:cNvSpPr txBox="1"/>
          <p:nvPr/>
        </p:nvSpPr>
        <p:spPr>
          <a:xfrm>
            <a:off x="2209800" y="1638300"/>
            <a:ext cx="15082325" cy="4832092"/>
          </a:xfrm>
          <a:prstGeom prst="rect">
            <a:avLst/>
          </a:prstGeom>
          <a:noFill/>
        </p:spPr>
        <p:txBody>
          <a:bodyPr wrap="square" rtlCol="0">
            <a:spAutoFit/>
          </a:bodyPr>
          <a:lstStyle/>
          <a:p>
            <a:endParaRPr lang="en-US" sz="2800" dirty="0"/>
          </a:p>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3C7D1F4F-31D7-316C-32AE-E8D1E57CCAD0}"/>
              </a:ext>
            </a:extLst>
          </p:cNvPr>
          <p:cNvPicPr>
            <a:picLocks noChangeAspect="1"/>
          </p:cNvPicPr>
          <p:nvPr/>
        </p:nvPicPr>
        <p:blipFill>
          <a:blip r:embed="rId3"/>
          <a:srcRect t="8038"/>
          <a:stretch>
            <a:fillRect/>
          </a:stretch>
        </p:blipFill>
        <p:spPr>
          <a:xfrm>
            <a:off x="2209800" y="1741462"/>
            <a:ext cx="15082325" cy="7568146"/>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19" name="Group 19"/>
          <p:cNvGrpSpPr/>
          <p:nvPr/>
        </p:nvGrpSpPr>
        <p:grpSpPr>
          <a:xfrm>
            <a:off x="735588" y="5976927"/>
            <a:ext cx="992463" cy="992463"/>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21" name="TextBox 21"/>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7</a:t>
              </a:r>
            </a:p>
          </p:txBody>
        </p:sp>
      </p:grpSp>
      <p:grpSp>
        <p:nvGrpSpPr>
          <p:cNvPr id="22" name="Group 22"/>
          <p:cNvGrpSpPr/>
          <p:nvPr/>
        </p:nvGrpSpPr>
        <p:grpSpPr>
          <a:xfrm>
            <a:off x="977741" y="3315742"/>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25" name="Group 25"/>
          <p:cNvGrpSpPr/>
          <p:nvPr/>
        </p:nvGrpSpPr>
        <p:grpSpPr>
          <a:xfrm>
            <a:off x="977741" y="1982349"/>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28" name="Group 28"/>
          <p:cNvGrpSpPr/>
          <p:nvPr/>
        </p:nvGrpSpPr>
        <p:grpSpPr>
          <a:xfrm>
            <a:off x="977741" y="3983373"/>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31" name="Group 31"/>
          <p:cNvGrpSpPr/>
          <p:nvPr/>
        </p:nvGrpSpPr>
        <p:grpSpPr>
          <a:xfrm>
            <a:off x="977741" y="2648112"/>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34" name="Group 34"/>
          <p:cNvGrpSpPr/>
          <p:nvPr/>
        </p:nvGrpSpPr>
        <p:grpSpPr>
          <a:xfrm>
            <a:off x="977741" y="5318634"/>
            <a:ext cx="508158" cy="543805"/>
            <a:chOff x="0" y="0"/>
            <a:chExt cx="812800" cy="869819"/>
          </a:xfrm>
        </p:grpSpPr>
        <p:sp>
          <p:nvSpPr>
            <p:cNvPr id="35" name="Freeform 35"/>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6" name="TextBox 36"/>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37" name="Group 37"/>
          <p:cNvGrpSpPr/>
          <p:nvPr/>
        </p:nvGrpSpPr>
        <p:grpSpPr>
          <a:xfrm>
            <a:off x="977741" y="4651003"/>
            <a:ext cx="508158" cy="543805"/>
            <a:chOff x="0" y="0"/>
            <a:chExt cx="812800" cy="869819"/>
          </a:xfrm>
        </p:grpSpPr>
        <p:sp>
          <p:nvSpPr>
            <p:cNvPr id="38" name="Freeform 38"/>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9" name="TextBox 39"/>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40" name="Group 40"/>
          <p:cNvGrpSpPr/>
          <p:nvPr/>
        </p:nvGrpSpPr>
        <p:grpSpPr>
          <a:xfrm>
            <a:off x="977741" y="7093216"/>
            <a:ext cx="508158" cy="543805"/>
            <a:chOff x="0" y="0"/>
            <a:chExt cx="812800" cy="869819"/>
          </a:xfrm>
        </p:grpSpPr>
        <p:sp>
          <p:nvSpPr>
            <p:cNvPr id="41" name="Freeform 4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2" name="TextBox 4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grpSp>
        <p:nvGrpSpPr>
          <p:cNvPr id="43" name="Group 43"/>
          <p:cNvGrpSpPr/>
          <p:nvPr/>
        </p:nvGrpSpPr>
        <p:grpSpPr>
          <a:xfrm>
            <a:off x="977741" y="7760846"/>
            <a:ext cx="508158" cy="543805"/>
            <a:chOff x="0" y="0"/>
            <a:chExt cx="812800" cy="869819"/>
          </a:xfrm>
        </p:grpSpPr>
        <p:sp>
          <p:nvSpPr>
            <p:cNvPr id="44" name="Freeform 4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45" name="TextBox 4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46" name="Freeform 10">
            <a:extLst>
              <a:ext uri="{FF2B5EF4-FFF2-40B4-BE49-F238E27FC236}">
                <a16:creationId xmlns:a16="http://schemas.microsoft.com/office/drawing/2014/main" id="{307389F6-23D0-83F6-DD02-F20D61DADE76}"/>
              </a:ext>
            </a:extLst>
          </p:cNvPr>
          <p:cNvSpPr/>
          <p:nvPr/>
        </p:nvSpPr>
        <p:spPr>
          <a:xfrm>
            <a:off x="16313420" y="910465"/>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7" name="TextBox 46">
            <a:extLst>
              <a:ext uri="{FF2B5EF4-FFF2-40B4-BE49-F238E27FC236}">
                <a16:creationId xmlns:a16="http://schemas.microsoft.com/office/drawing/2014/main" id="{E4ED097B-FECF-66E6-2A98-0F8B4D948FC8}"/>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TECHNOLOGIES USED</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8" name="TextBox 47">
            <a:extLst>
              <a:ext uri="{FF2B5EF4-FFF2-40B4-BE49-F238E27FC236}">
                <a16:creationId xmlns:a16="http://schemas.microsoft.com/office/drawing/2014/main" id="{26E9F5F9-CCF8-6F05-4C01-034C88D7529E}"/>
              </a:ext>
            </a:extLst>
          </p:cNvPr>
          <p:cNvSpPr txBox="1"/>
          <p:nvPr/>
        </p:nvSpPr>
        <p:spPr>
          <a:xfrm>
            <a:off x="2209800" y="1638300"/>
            <a:ext cx="15082325" cy="10864513"/>
          </a:xfrm>
          <a:prstGeom prst="rect">
            <a:avLst/>
          </a:prstGeom>
          <a:noFill/>
        </p:spPr>
        <p:txBody>
          <a:bodyPr wrap="square" rtlCol="0">
            <a:spAutoFit/>
          </a:bodyPr>
          <a:lstStyle/>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Frontend:</a:t>
            </a:r>
            <a:endParaRPr lang="en-IN"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React JS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CSS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HTML</a:t>
            </a:r>
          </a:p>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Backend:</a:t>
            </a:r>
            <a:endParaRPr lang="en-IN"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Node.js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Express.js</a:t>
            </a:r>
          </a:p>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Database:</a:t>
            </a:r>
            <a:endParaRPr lang="en-IN"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JSON/Local Storage(or server memory)</a:t>
            </a:r>
          </a:p>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Tools:</a:t>
            </a:r>
            <a:endParaRPr lang="en-IN" sz="2800" dirty="0">
              <a:latin typeface="Times New Roman" panose="02020603050405020304" pitchFamily="18" charset="0"/>
              <a:cs typeface="Times New Roman" panose="02020603050405020304" pitchFamily="18" charset="0"/>
            </a:endParaRP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VS Code</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Chrome Browser</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Axios</a:t>
            </a:r>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grpSp>
        <p:nvGrpSpPr>
          <p:cNvPr id="7" name="Group 7"/>
          <p:cNvGrpSpPr/>
          <p:nvPr/>
        </p:nvGrpSpPr>
        <p:grpSpPr>
          <a:xfrm>
            <a:off x="735588" y="6653894"/>
            <a:ext cx="992463" cy="99246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8</a:t>
              </a:r>
            </a:p>
          </p:txBody>
        </p:sp>
      </p:grpSp>
      <p:grpSp>
        <p:nvGrpSpPr>
          <p:cNvPr id="10" name="Group 10"/>
          <p:cNvGrpSpPr/>
          <p:nvPr/>
        </p:nvGrpSpPr>
        <p:grpSpPr>
          <a:xfrm>
            <a:off x="977741" y="3315742"/>
            <a:ext cx="508158" cy="543805"/>
            <a:chOff x="0" y="0"/>
            <a:chExt cx="812800" cy="869819"/>
          </a:xfrm>
        </p:grpSpPr>
        <p:sp>
          <p:nvSpPr>
            <p:cNvPr id="11" name="Freeform 11"/>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p:cNvGrpSpPr/>
          <p:nvPr/>
        </p:nvGrpSpPr>
        <p:grpSpPr>
          <a:xfrm>
            <a:off x="977741" y="1982349"/>
            <a:ext cx="508158" cy="543805"/>
            <a:chOff x="0" y="0"/>
            <a:chExt cx="812800" cy="869819"/>
          </a:xfrm>
        </p:grpSpPr>
        <p:sp>
          <p:nvSpPr>
            <p:cNvPr id="14" name="Freeform 14"/>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p:cNvGrpSpPr/>
          <p:nvPr/>
        </p:nvGrpSpPr>
        <p:grpSpPr>
          <a:xfrm>
            <a:off x="977741" y="3983373"/>
            <a:ext cx="508158" cy="543805"/>
            <a:chOff x="0" y="0"/>
            <a:chExt cx="812800" cy="869819"/>
          </a:xfrm>
        </p:grpSpPr>
        <p:sp>
          <p:nvSpPr>
            <p:cNvPr id="17" name="Freeform 17"/>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p:cNvGrpSpPr/>
          <p:nvPr/>
        </p:nvGrpSpPr>
        <p:grpSpPr>
          <a:xfrm>
            <a:off x="977741" y="2648112"/>
            <a:ext cx="508158" cy="543805"/>
            <a:chOff x="0" y="0"/>
            <a:chExt cx="812800" cy="869819"/>
          </a:xfrm>
        </p:grpSpPr>
        <p:sp>
          <p:nvSpPr>
            <p:cNvPr id="20" name="Freeform 20"/>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p:cNvGrpSpPr/>
          <p:nvPr/>
        </p:nvGrpSpPr>
        <p:grpSpPr>
          <a:xfrm>
            <a:off x="977741" y="5318634"/>
            <a:ext cx="508158" cy="543805"/>
            <a:chOff x="0" y="0"/>
            <a:chExt cx="812800" cy="869819"/>
          </a:xfrm>
        </p:grpSpPr>
        <p:sp>
          <p:nvSpPr>
            <p:cNvPr id="23" name="Freeform 23"/>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p:cNvGrpSpPr/>
          <p:nvPr/>
        </p:nvGrpSpPr>
        <p:grpSpPr>
          <a:xfrm>
            <a:off x="977741" y="4651003"/>
            <a:ext cx="508158" cy="543805"/>
            <a:chOff x="0" y="0"/>
            <a:chExt cx="812800" cy="869819"/>
          </a:xfrm>
        </p:grpSpPr>
        <p:sp>
          <p:nvSpPr>
            <p:cNvPr id="26" name="Freeform 26"/>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p:cNvGrpSpPr/>
          <p:nvPr/>
        </p:nvGrpSpPr>
        <p:grpSpPr>
          <a:xfrm>
            <a:off x="977741" y="5986264"/>
            <a:ext cx="508158" cy="543805"/>
            <a:chOff x="0" y="0"/>
            <a:chExt cx="812800" cy="869819"/>
          </a:xfrm>
        </p:grpSpPr>
        <p:sp>
          <p:nvSpPr>
            <p:cNvPr id="29" name="Freeform 29"/>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p:cNvGrpSpPr/>
          <p:nvPr/>
        </p:nvGrpSpPr>
        <p:grpSpPr>
          <a:xfrm>
            <a:off x="977741" y="7760846"/>
            <a:ext cx="508158" cy="543805"/>
            <a:chOff x="0" y="0"/>
            <a:chExt cx="812800" cy="869819"/>
          </a:xfrm>
        </p:grpSpPr>
        <p:sp>
          <p:nvSpPr>
            <p:cNvPr id="32" name="Freeform 32"/>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2">
            <a:extLst>
              <a:ext uri="{FF2B5EF4-FFF2-40B4-BE49-F238E27FC236}">
                <a16:creationId xmlns:a16="http://schemas.microsoft.com/office/drawing/2014/main" id="{9A1BCE7C-890E-A01E-691E-1D3D07CF6333}"/>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MODULE DESCRIPTION</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304C197-EAC7-7A26-FAED-ED7302DBEC6E}"/>
              </a:ext>
            </a:extLst>
          </p:cNvPr>
          <p:cNvSpPr txBox="1"/>
          <p:nvPr/>
        </p:nvSpPr>
        <p:spPr>
          <a:xfrm>
            <a:off x="2223018" y="1281147"/>
            <a:ext cx="15082325" cy="9571851"/>
          </a:xfrm>
          <a:prstGeom prst="rect">
            <a:avLst/>
          </a:prstGeom>
          <a:noFill/>
        </p:spPr>
        <p:txBody>
          <a:bodyPr wrap="square" rtlCol="0">
            <a:spAutoFit/>
          </a:bodyPr>
          <a:lstStyle/>
          <a:p>
            <a:endParaRPr lang="en-IN" sz="2800" b="1" dirty="0"/>
          </a:p>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Module 1 – User Booking</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Select event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Enter details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Book ticket </a:t>
            </a:r>
          </a:p>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Module 2 – Confirmation</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Displays user details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Shows event info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Proceed to payment </a:t>
            </a:r>
          </a:p>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Module 3 – Payment</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Enter card details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Simulated payment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Booking confirmation alert </a:t>
            </a:r>
          </a:p>
          <a:p>
            <a:pPr marL="457200" indent="-457200">
              <a:buFont typeface="Wingdings" panose="05000000000000000000" pitchFamily="2" charset="2"/>
              <a:buChar char="q"/>
            </a:pPr>
            <a:r>
              <a:rPr lang="en-IN" sz="2800" b="1" dirty="0">
                <a:latin typeface="Times New Roman" panose="02020603050405020304" pitchFamily="18" charset="0"/>
                <a:cs typeface="Times New Roman" panose="02020603050405020304" pitchFamily="18" charset="0"/>
              </a:rPr>
              <a:t>Module 4 – Admin Panel</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Add event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Delete event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View bookings</a:t>
            </a:r>
          </a:p>
          <a:p>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endParaRPr lang="en-IN" sz="2800" dirty="0">
              <a:latin typeface="Times New Roman" panose="02020603050405020304" pitchFamily="18" charset="0"/>
              <a:cs typeface="Times New Roman" panose="02020603050405020304" pitchFamily="18" charset="0"/>
            </a:endParaRPr>
          </a:p>
          <a:p>
            <a:endParaRPr lang="en-IN" sz="2800" dirty="0"/>
          </a:p>
          <a:p>
            <a:endParaRPr lang="en-IN" sz="2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E0BFBA1B-7EE7-47B6-41F3-C4B61A979F6F}"/>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D8CD5C70-566B-9213-9F31-546BB621CCAF}"/>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7EBAE7EB-82E8-3AF5-3C43-EA7688F73256}"/>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5294143A-C171-B89D-02DF-136CB32B43C9}"/>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t>
              </a:r>
            </a:p>
          </p:txBody>
        </p:sp>
      </p:grpSp>
      <p:grpSp>
        <p:nvGrpSpPr>
          <p:cNvPr id="10" name="Group 10">
            <a:extLst>
              <a:ext uri="{FF2B5EF4-FFF2-40B4-BE49-F238E27FC236}">
                <a16:creationId xmlns:a16="http://schemas.microsoft.com/office/drawing/2014/main" id="{811A371D-2A07-AABC-E66C-143D37E0F12C}"/>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2F7BDC7D-6911-7D85-E73A-2061DE32440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6DEA2241-E6A3-8051-F424-21070A5DF29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4DD3D6A9-1C97-9943-C984-B50356BAE3FF}"/>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6BB1489C-F4F8-D62E-3AD9-3CAA028A426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4A64A6E-EA7C-DFF0-C280-5041CD8B135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BE5FF856-5043-C428-B45A-4C00BF9D3418}"/>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CFC7AF72-B76A-8AD8-7E70-BDE8837D662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F6C277EF-EDEF-0F79-B4B2-AB1B3E58301A}"/>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A32CD2C6-1D06-729E-1157-B2EAAEA172A4}"/>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A222D7EA-F7CE-B4F5-4D06-02860C5AC3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17F695A3-7B3D-00FE-26D6-E53B473BCF1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5A8D3527-DD17-232E-3ECB-BDBFC0FF3DE7}"/>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1C3EBC87-5F86-657B-5C0D-7DFFB3C4281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5638183B-03CC-91E5-1C67-EAD126FB6DA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8C4C8B82-0B52-9912-DBAF-71546B2F401E}"/>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371F41C0-C399-6E94-B393-623F6ED78C3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5375A05-CD15-FECF-CF37-72BD8B495C3C}"/>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FFA9D0CA-D989-1DF0-9CD9-7BB1BF37D00D}"/>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6D72D40E-C3C8-1774-56F7-396EA1F5463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2A94558C-EEEF-6159-C648-7ED1F2545B1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A8A0868D-7450-B2DC-5A6A-A607E39122E3}"/>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27C0AD0-E7DC-50B1-90B8-A6B2DA72DDA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9B60539C-7696-ACA6-9070-BC481578187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0A2A8C1-A254-99B6-B7B0-C5A8A5BB008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B814A5FC-F17C-8D1A-04C8-1ED6A2AE0E6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2EC11913-1FC3-79C0-FB94-72486D9673F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6CB89B22-25E1-321C-5A74-15CF8EBC7CA1}"/>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35C6402D-9C63-51C1-99A9-4206C0537740}"/>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9EC6A4DA-6D4B-3E6A-CF92-E543DD7AFBF5}"/>
              </a:ext>
            </a:extLst>
          </p:cNvPr>
          <p:cNvSpPr txBox="1"/>
          <p:nvPr/>
        </p:nvSpPr>
        <p:spPr>
          <a:xfrm>
            <a:off x="2209800" y="1638300"/>
            <a:ext cx="15082325" cy="3970318"/>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5" name="Picture 4">
            <a:extLst>
              <a:ext uri="{FF2B5EF4-FFF2-40B4-BE49-F238E27FC236}">
                <a16:creationId xmlns:a16="http://schemas.microsoft.com/office/drawing/2014/main" id="{24145463-7BD5-9F6A-378E-47B528150363}"/>
              </a:ext>
            </a:extLst>
          </p:cNvPr>
          <p:cNvPicPr>
            <a:picLocks noChangeAspect="1"/>
          </p:cNvPicPr>
          <p:nvPr/>
        </p:nvPicPr>
        <p:blipFill>
          <a:blip r:embed="rId3">
            <a:extLst>
              <a:ext uri="{28A0092B-C50C-407E-A947-70E740481C1C}">
                <a14:useLocalDpi xmlns:a14="http://schemas.microsoft.com/office/drawing/2010/main" val="0"/>
              </a:ext>
            </a:extLst>
          </a:blip>
          <a:srcRect r="-115" b="29676"/>
          <a:stretch>
            <a:fillRect/>
          </a:stretch>
        </p:blipFill>
        <p:spPr>
          <a:xfrm>
            <a:off x="1981201" y="1173897"/>
            <a:ext cx="7467599" cy="4434721"/>
          </a:xfrm>
          <a:prstGeom prst="rect">
            <a:avLst/>
          </a:prstGeom>
          <a:ln>
            <a:solidFill>
              <a:schemeClr val="tx1"/>
            </a:solidFill>
          </a:ln>
        </p:spPr>
      </p:pic>
      <p:pic>
        <p:nvPicPr>
          <p:cNvPr id="38" name="Picture 37">
            <a:extLst>
              <a:ext uri="{FF2B5EF4-FFF2-40B4-BE49-F238E27FC236}">
                <a16:creationId xmlns:a16="http://schemas.microsoft.com/office/drawing/2014/main" id="{728E30FF-79A3-8F72-4FE6-62E52BA719AE}"/>
              </a:ext>
            </a:extLst>
          </p:cNvPr>
          <p:cNvPicPr>
            <a:picLocks noChangeAspect="1"/>
          </p:cNvPicPr>
          <p:nvPr/>
        </p:nvPicPr>
        <p:blipFill>
          <a:blip r:embed="rId4">
            <a:extLst>
              <a:ext uri="{28A0092B-C50C-407E-A947-70E740481C1C}">
                <a14:useLocalDpi xmlns:a14="http://schemas.microsoft.com/office/drawing/2010/main" val="0"/>
              </a:ext>
            </a:extLst>
          </a:blip>
          <a:srcRect r="413" b="43711"/>
          <a:stretch>
            <a:fillRect/>
          </a:stretch>
        </p:blipFill>
        <p:spPr>
          <a:xfrm>
            <a:off x="9777132" y="5143500"/>
            <a:ext cx="7658175" cy="4372515"/>
          </a:xfrm>
          <a:prstGeom prst="rect">
            <a:avLst/>
          </a:prstGeom>
          <a:ln>
            <a:solidFill>
              <a:schemeClr val="tx1"/>
            </a:solidFill>
          </a:ln>
        </p:spPr>
      </p:pic>
      <p:sp>
        <p:nvSpPr>
          <p:cNvPr id="40" name="TextBox 39">
            <a:extLst>
              <a:ext uri="{FF2B5EF4-FFF2-40B4-BE49-F238E27FC236}">
                <a16:creationId xmlns:a16="http://schemas.microsoft.com/office/drawing/2014/main" id="{675A80C5-8302-9805-41D6-E43D8AF7E34A}"/>
              </a:ext>
            </a:extLst>
          </p:cNvPr>
          <p:cNvSpPr txBox="1"/>
          <p:nvPr/>
        </p:nvSpPr>
        <p:spPr>
          <a:xfrm>
            <a:off x="2352874" y="5590536"/>
            <a:ext cx="14210674"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Home Page: User interface displaying events and ticket booking form</a:t>
            </a:r>
            <a:endParaRPr lang="en-IN" b="1" dirty="0">
              <a:latin typeface="Times New Roman" panose="02020603050405020304" pitchFamily="18" charset="0"/>
              <a:cs typeface="Times New Roman" panose="02020603050405020304" pitchFamily="18" charset="0"/>
            </a:endParaRPr>
          </a:p>
        </p:txBody>
      </p:sp>
      <p:sp>
        <p:nvSpPr>
          <p:cNvPr id="42" name="TextBox 41">
            <a:extLst>
              <a:ext uri="{FF2B5EF4-FFF2-40B4-BE49-F238E27FC236}">
                <a16:creationId xmlns:a16="http://schemas.microsoft.com/office/drawing/2014/main" id="{CD5AAFCB-9EDF-59DA-B31F-8E4E9C748AEC}"/>
              </a:ext>
            </a:extLst>
          </p:cNvPr>
          <p:cNvSpPr txBox="1"/>
          <p:nvPr/>
        </p:nvSpPr>
        <p:spPr>
          <a:xfrm>
            <a:off x="9458211" y="9591411"/>
            <a:ext cx="14210674"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Booking Confirmation Page: Displays entered user details before proceeding to payment</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9810114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B7CF319D-58F2-DF9E-632A-90472F50FA3A}"/>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ADE101F0-A2BF-16E8-7BEC-541911EA9510}"/>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C43B1E5B-104E-DCD5-F042-8DABFE8225A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846A8601-B4CB-7C78-2833-947EEC356CD7}"/>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8(A)</a:t>
              </a:r>
            </a:p>
          </p:txBody>
        </p:sp>
      </p:grpSp>
      <p:grpSp>
        <p:nvGrpSpPr>
          <p:cNvPr id="10" name="Group 10">
            <a:extLst>
              <a:ext uri="{FF2B5EF4-FFF2-40B4-BE49-F238E27FC236}">
                <a16:creationId xmlns:a16="http://schemas.microsoft.com/office/drawing/2014/main" id="{1C63788E-DB35-987D-1A89-4C3F169DF70E}"/>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676646B6-C6D6-F677-3CA9-56BE5CE444A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3CDDAA79-D530-F622-0CC8-ECE3E95F952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8227745F-FD1B-7135-E88E-D6B924C5CB24}"/>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79292FA3-A80E-1540-0024-754AADCDB01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5A8C7117-591A-F089-5F54-0229077FDEA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29278237-7990-A997-2285-EB2F5BB4EF44}"/>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F37C1434-DB0E-53EF-4140-56A0F3CD6EAB}"/>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4FC388C1-59EC-CA17-BA41-9AF3AAD42D8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90F65A21-E49B-9858-6EAD-EBC3142E623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EFDE14F0-9F59-E35F-B5B7-45C77C56354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E1181869-B448-2B7A-67F5-160B09C76D9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8B27AB66-420C-E7D0-5891-910B564CA2C2}"/>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F0605CE2-624E-D2DA-6357-65C5FA138C6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DA9B1286-A8A4-091B-5AF9-F0B275F703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127DF020-AEA7-8D57-9411-90D58D65D05B}"/>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00BA2729-D580-CF8D-87CD-EE786F2E40E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F0B6F8BA-7047-AE2A-DB03-E6846F9FAEAB}"/>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B5DE7324-71F9-1D79-AB1E-F97481653389}"/>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E780ED4E-44DF-E344-CCEA-834D1374F6A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AC7D9CD8-E54E-AD67-D59B-5D4A37A1B41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3560347-DE50-10F7-9905-7228E593D28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1B9E463A-B010-8D72-6350-7242CB0AAF56}"/>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C15BE220-858E-1446-5B56-D3329A06A997}"/>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98F156A3-70B1-1344-389E-4B3C64CA921F}"/>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A36A5C58-00A3-2FE9-36E4-D92AAF44A0F5}"/>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BADF0EED-F663-F70E-9BB3-C0F576114D01}"/>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54542349-F329-7DA6-DBD4-7EFA939B9892}"/>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B6CAD810-8433-9B89-E144-29986E25063F}"/>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746F2C30-13B1-3754-C147-D58A899BC459}"/>
              </a:ext>
            </a:extLst>
          </p:cNvPr>
          <p:cNvSpPr txBox="1"/>
          <p:nvPr/>
        </p:nvSpPr>
        <p:spPr>
          <a:xfrm>
            <a:off x="2209800" y="1638300"/>
            <a:ext cx="15082325" cy="4832092"/>
          </a:xfrm>
          <a:prstGeom prst="rect">
            <a:avLst/>
          </a:prstGeom>
          <a:noFill/>
        </p:spPr>
        <p:txBody>
          <a:bodyPr wrap="square" rtlCol="0">
            <a:spAutoFit/>
          </a:bodyPr>
          <a:lstStyle/>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46" name="Picture 45">
            <a:extLst>
              <a:ext uri="{FF2B5EF4-FFF2-40B4-BE49-F238E27FC236}">
                <a16:creationId xmlns:a16="http://schemas.microsoft.com/office/drawing/2014/main" id="{31B3DAA4-BF58-7281-C052-A25E2822E38B}"/>
              </a:ext>
            </a:extLst>
          </p:cNvPr>
          <p:cNvPicPr>
            <a:picLocks noChangeAspect="1"/>
          </p:cNvPicPr>
          <p:nvPr/>
        </p:nvPicPr>
        <p:blipFill>
          <a:blip r:embed="rId3">
            <a:extLst>
              <a:ext uri="{28A0092B-C50C-407E-A947-70E740481C1C}">
                <a14:useLocalDpi xmlns:a14="http://schemas.microsoft.com/office/drawing/2010/main" val="0"/>
              </a:ext>
            </a:extLst>
          </a:blip>
          <a:srcRect b="35813"/>
          <a:stretch>
            <a:fillRect/>
          </a:stretch>
        </p:blipFill>
        <p:spPr>
          <a:xfrm>
            <a:off x="1706453" y="1341444"/>
            <a:ext cx="7818547" cy="4366994"/>
          </a:xfrm>
          <a:prstGeom prst="rect">
            <a:avLst/>
          </a:prstGeom>
          <a:ln>
            <a:solidFill>
              <a:schemeClr val="tx1"/>
            </a:solidFill>
          </a:ln>
        </p:spPr>
      </p:pic>
      <p:sp>
        <p:nvSpPr>
          <p:cNvPr id="50" name="TextBox 49">
            <a:extLst>
              <a:ext uri="{FF2B5EF4-FFF2-40B4-BE49-F238E27FC236}">
                <a16:creationId xmlns:a16="http://schemas.microsoft.com/office/drawing/2014/main" id="{DF5AA2FE-5898-9ACE-6E1C-E86F2F83B5C3}"/>
              </a:ext>
            </a:extLst>
          </p:cNvPr>
          <p:cNvSpPr txBox="1"/>
          <p:nvPr/>
        </p:nvSpPr>
        <p:spPr>
          <a:xfrm>
            <a:off x="2162160" y="5649997"/>
            <a:ext cx="14210674"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Payment Page: User enters card details to complete ticket booking</a:t>
            </a:r>
            <a:endParaRPr lang="en-IN" b="1" dirty="0">
              <a:latin typeface="Times New Roman" panose="02020603050405020304" pitchFamily="18" charset="0"/>
              <a:cs typeface="Times New Roman" panose="02020603050405020304" pitchFamily="18" charset="0"/>
            </a:endParaRPr>
          </a:p>
        </p:txBody>
      </p:sp>
      <p:pic>
        <p:nvPicPr>
          <p:cNvPr id="52" name="Picture 51">
            <a:extLst>
              <a:ext uri="{FF2B5EF4-FFF2-40B4-BE49-F238E27FC236}">
                <a16:creationId xmlns:a16="http://schemas.microsoft.com/office/drawing/2014/main" id="{31B7CC2B-D940-B188-90CF-C87140AC7C20}"/>
              </a:ext>
            </a:extLst>
          </p:cNvPr>
          <p:cNvPicPr>
            <a:picLocks noChangeAspect="1"/>
          </p:cNvPicPr>
          <p:nvPr/>
        </p:nvPicPr>
        <p:blipFill>
          <a:blip r:embed="rId4"/>
          <a:stretch>
            <a:fillRect/>
          </a:stretch>
        </p:blipFill>
        <p:spPr>
          <a:xfrm>
            <a:off x="9930657" y="5450844"/>
            <a:ext cx="7118438" cy="4391025"/>
          </a:xfrm>
          <a:prstGeom prst="rect">
            <a:avLst/>
          </a:prstGeom>
        </p:spPr>
      </p:pic>
      <p:sp>
        <p:nvSpPr>
          <p:cNvPr id="54" name="TextBox 53">
            <a:extLst>
              <a:ext uri="{FF2B5EF4-FFF2-40B4-BE49-F238E27FC236}">
                <a16:creationId xmlns:a16="http://schemas.microsoft.com/office/drawing/2014/main" id="{472451DA-0252-0264-D8EF-04FF56AA0539}"/>
              </a:ext>
            </a:extLst>
          </p:cNvPr>
          <p:cNvSpPr txBox="1"/>
          <p:nvPr/>
        </p:nvSpPr>
        <p:spPr>
          <a:xfrm>
            <a:off x="9531246" y="9817732"/>
            <a:ext cx="14210674"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Payment Success Alert: Confirmation message indicating successful ticket booking</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118739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C0F4F051-5473-4E78-FEB2-59A87A5FBB9B}"/>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66BE183E-F015-FFD4-5C84-C25B4DCE490A}"/>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3AEC1772-D597-ACC7-7EF1-FF0460F37AA7}"/>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46839344-8B05-5C56-F0B1-64E24F458991}"/>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8(B)</a:t>
              </a:r>
            </a:p>
          </p:txBody>
        </p:sp>
      </p:grpSp>
      <p:grpSp>
        <p:nvGrpSpPr>
          <p:cNvPr id="10" name="Group 10">
            <a:extLst>
              <a:ext uri="{FF2B5EF4-FFF2-40B4-BE49-F238E27FC236}">
                <a16:creationId xmlns:a16="http://schemas.microsoft.com/office/drawing/2014/main" id="{23B54700-9ABF-8EDD-8B21-24A9248C534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B99246F8-F6B5-2F2E-2FB4-FAE1DD41DCC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B7CDDD7B-8A9B-223F-951A-473D0C9404F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B3E1A8FC-D0F1-BD05-9C14-C10EAE95E57E}"/>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CEB5FB4E-3BF3-BC6A-6692-FE375141E45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38F8F103-F0A5-8F95-A139-8DBEBEF19C2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8C558648-2D59-16EB-3098-EAF5DE978B1F}"/>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B168779D-5467-4E78-AD1E-36B5A75A3474}"/>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8AFC0BB4-20A4-849D-A1E4-FA90A8DDCC7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700D33AC-D53D-0E96-8752-E5DA06AE57A5}"/>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14DABAFB-38B3-CE49-B21D-A496D7EC2A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BE27A610-3BC0-BFBC-2A61-4C157B024EF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6C0E28B4-531C-D2E1-F3C9-B5A98A28B69D}"/>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C193347-3923-7F1F-A580-A7462B158EC5}"/>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C5DDC20D-7BD0-E255-26F1-86A88AF67CF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9DBB21A1-CAFF-686E-D181-980219283F79}"/>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5531A9C5-B561-53EA-BF9A-3BE6A607C1B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D8870C21-3327-4D63-FD34-36BC479967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4D7C3EBE-FA20-7E4C-13DD-84F1A98618F6}"/>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C1E3AE62-1B2B-FE1E-010C-A26C4F613A6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CDA04BD5-C99C-980C-6593-EDEA378D6C3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E77207A6-9552-432B-0793-EB6A88EE3C10}"/>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27447A1E-BA0C-26C0-C743-E590A55A653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8D425BCC-6A0F-30CB-18E7-D1E21E871D9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35F87FC1-4854-F9D4-8104-40945AD6A772}"/>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C7CF20EF-980A-2D88-E968-DCB5B8BC6CF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A7A686B7-4E4C-A5FA-60CD-A6EFF9DEAD82}"/>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3ECD8D52-6368-578C-BEB2-0B1BA37FD45D}"/>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638323CF-7DCB-075F-B739-0F88472F060D}"/>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pic>
        <p:nvPicPr>
          <p:cNvPr id="4" name="Picture 3">
            <a:extLst>
              <a:ext uri="{FF2B5EF4-FFF2-40B4-BE49-F238E27FC236}">
                <a16:creationId xmlns:a16="http://schemas.microsoft.com/office/drawing/2014/main" id="{854EF536-C318-422E-2FC7-011B3AB1D838}"/>
              </a:ext>
            </a:extLst>
          </p:cNvPr>
          <p:cNvPicPr>
            <a:picLocks noChangeAspect="1"/>
          </p:cNvPicPr>
          <p:nvPr/>
        </p:nvPicPr>
        <p:blipFill>
          <a:blip r:embed="rId3">
            <a:extLst>
              <a:ext uri="{28A0092B-C50C-407E-A947-70E740481C1C}">
                <a14:useLocalDpi xmlns:a14="http://schemas.microsoft.com/office/drawing/2010/main" val="0"/>
              </a:ext>
            </a:extLst>
          </a:blip>
          <a:srcRect r="670" b="19144"/>
          <a:stretch>
            <a:fillRect/>
          </a:stretch>
        </p:blipFill>
        <p:spPr>
          <a:xfrm>
            <a:off x="9595272" y="5649969"/>
            <a:ext cx="7146773" cy="4135149"/>
          </a:xfrm>
          <a:prstGeom prst="rect">
            <a:avLst/>
          </a:prstGeom>
          <a:ln>
            <a:solidFill>
              <a:schemeClr val="tx1"/>
            </a:solidFill>
          </a:ln>
        </p:spPr>
      </p:pic>
      <p:pic>
        <p:nvPicPr>
          <p:cNvPr id="45" name="Picture 44">
            <a:extLst>
              <a:ext uri="{FF2B5EF4-FFF2-40B4-BE49-F238E27FC236}">
                <a16:creationId xmlns:a16="http://schemas.microsoft.com/office/drawing/2014/main" id="{339FB856-6C46-8320-A0CC-E2337C1D6110}"/>
              </a:ext>
            </a:extLst>
          </p:cNvPr>
          <p:cNvPicPr>
            <a:picLocks noChangeAspect="1"/>
          </p:cNvPicPr>
          <p:nvPr/>
        </p:nvPicPr>
        <p:blipFill>
          <a:blip r:embed="rId4"/>
          <a:stretch>
            <a:fillRect/>
          </a:stretch>
        </p:blipFill>
        <p:spPr>
          <a:xfrm>
            <a:off x="1868485" y="1247746"/>
            <a:ext cx="7161688" cy="4402223"/>
          </a:xfrm>
          <a:prstGeom prst="rect">
            <a:avLst/>
          </a:prstGeom>
        </p:spPr>
      </p:pic>
      <p:sp>
        <p:nvSpPr>
          <p:cNvPr id="48" name="TextBox 47">
            <a:extLst>
              <a:ext uri="{FF2B5EF4-FFF2-40B4-BE49-F238E27FC236}">
                <a16:creationId xmlns:a16="http://schemas.microsoft.com/office/drawing/2014/main" id="{117D062C-6EBC-84F7-5F5A-7E76EBD61A13}"/>
              </a:ext>
            </a:extLst>
          </p:cNvPr>
          <p:cNvSpPr txBox="1"/>
          <p:nvPr/>
        </p:nvSpPr>
        <p:spPr>
          <a:xfrm>
            <a:off x="1991129" y="5590550"/>
            <a:ext cx="14210674" cy="369332"/>
          </a:xfrm>
          <a:prstGeom prst="rect">
            <a:avLst/>
          </a:prstGeom>
          <a:noFill/>
        </p:spPr>
        <p:txBody>
          <a:bodyPr wrap="square">
            <a:spAutoFit/>
          </a:bodyPr>
          <a:lstStyle/>
          <a:p>
            <a:r>
              <a:rPr lang="en-IN" b="1" dirty="0">
                <a:latin typeface="Times New Roman" panose="02020603050405020304" pitchFamily="18" charset="0"/>
                <a:cs typeface="Times New Roman" panose="02020603050405020304" pitchFamily="18" charset="0"/>
              </a:rPr>
              <a:t>Admin Login Page: Secure login interface for administrator access</a:t>
            </a:r>
          </a:p>
        </p:txBody>
      </p:sp>
      <p:sp>
        <p:nvSpPr>
          <p:cNvPr id="50" name="TextBox 49">
            <a:extLst>
              <a:ext uri="{FF2B5EF4-FFF2-40B4-BE49-F238E27FC236}">
                <a16:creationId xmlns:a16="http://schemas.microsoft.com/office/drawing/2014/main" id="{7381436E-4A20-7793-4691-83151477A69F}"/>
              </a:ext>
            </a:extLst>
          </p:cNvPr>
          <p:cNvSpPr txBox="1"/>
          <p:nvPr/>
        </p:nvSpPr>
        <p:spPr>
          <a:xfrm>
            <a:off x="9681023" y="9835100"/>
            <a:ext cx="14210674"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Admin Dashboard: Admin panel to add, manage, and delete events</a:t>
            </a: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754482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0152AA6E-1A8C-A42D-344E-C811AB58A618}"/>
            </a:ext>
          </a:extLst>
        </p:cNvPr>
        <p:cNvGrpSpPr/>
        <p:nvPr/>
      </p:nvGrpSpPr>
      <p:grpSpPr>
        <a:xfrm>
          <a:off x="0" y="0"/>
          <a:ext cx="0" cy="0"/>
          <a:chOff x="0" y="0"/>
          <a:chExt cx="0" cy="0"/>
        </a:xfrm>
      </p:grpSpPr>
      <p:grpSp>
        <p:nvGrpSpPr>
          <p:cNvPr id="7" name="Group 7">
            <a:extLst>
              <a:ext uri="{FF2B5EF4-FFF2-40B4-BE49-F238E27FC236}">
                <a16:creationId xmlns:a16="http://schemas.microsoft.com/office/drawing/2014/main" id="{EB7F1E1F-336A-607D-2868-6C57FF54EB44}"/>
              </a:ext>
            </a:extLst>
          </p:cNvPr>
          <p:cNvGrpSpPr/>
          <p:nvPr/>
        </p:nvGrpSpPr>
        <p:grpSpPr>
          <a:xfrm>
            <a:off x="735588" y="6653894"/>
            <a:ext cx="992463" cy="992463"/>
            <a:chOff x="0" y="0"/>
            <a:chExt cx="812800" cy="812800"/>
          </a:xfrm>
        </p:grpSpPr>
        <p:sp>
          <p:nvSpPr>
            <p:cNvPr id="8" name="Freeform 8">
              <a:extLst>
                <a:ext uri="{FF2B5EF4-FFF2-40B4-BE49-F238E27FC236}">
                  <a16:creationId xmlns:a16="http://schemas.microsoft.com/office/drawing/2014/main" id="{63528BA9-EE0E-A6F8-4A8C-6DFC964B206C}"/>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9" name="TextBox 9">
              <a:extLst>
                <a:ext uri="{FF2B5EF4-FFF2-40B4-BE49-F238E27FC236}">
                  <a16:creationId xmlns:a16="http://schemas.microsoft.com/office/drawing/2014/main" id="{6E25C449-B344-E643-12F7-C89DEE4255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400" b="1" dirty="0">
                  <a:solidFill>
                    <a:srgbClr val="002060"/>
                  </a:solidFill>
                  <a:latin typeface="Gotham"/>
                  <a:ea typeface="Gotham"/>
                  <a:cs typeface="Gotham"/>
                  <a:sym typeface="Gotham"/>
                </a:rPr>
                <a:t>8(C)</a:t>
              </a:r>
            </a:p>
          </p:txBody>
        </p:sp>
      </p:grpSp>
      <p:grpSp>
        <p:nvGrpSpPr>
          <p:cNvPr id="10" name="Group 10">
            <a:extLst>
              <a:ext uri="{FF2B5EF4-FFF2-40B4-BE49-F238E27FC236}">
                <a16:creationId xmlns:a16="http://schemas.microsoft.com/office/drawing/2014/main" id="{4C22D2BC-F5CA-423B-6FD6-94172693045D}"/>
              </a:ext>
            </a:extLst>
          </p:cNvPr>
          <p:cNvGrpSpPr/>
          <p:nvPr/>
        </p:nvGrpSpPr>
        <p:grpSpPr>
          <a:xfrm>
            <a:off x="977741" y="3315742"/>
            <a:ext cx="508158" cy="543805"/>
            <a:chOff x="0" y="0"/>
            <a:chExt cx="812800" cy="869819"/>
          </a:xfrm>
        </p:grpSpPr>
        <p:sp>
          <p:nvSpPr>
            <p:cNvPr id="11" name="Freeform 11">
              <a:extLst>
                <a:ext uri="{FF2B5EF4-FFF2-40B4-BE49-F238E27FC236}">
                  <a16:creationId xmlns:a16="http://schemas.microsoft.com/office/drawing/2014/main" id="{F6670B32-1168-757A-3D40-FDD55687DCFD}"/>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2" name="TextBox 12">
              <a:extLst>
                <a:ext uri="{FF2B5EF4-FFF2-40B4-BE49-F238E27FC236}">
                  <a16:creationId xmlns:a16="http://schemas.microsoft.com/office/drawing/2014/main" id="{0D3BB7FD-57C6-C09A-D875-135D505A8E1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3" name="Group 13">
            <a:extLst>
              <a:ext uri="{FF2B5EF4-FFF2-40B4-BE49-F238E27FC236}">
                <a16:creationId xmlns:a16="http://schemas.microsoft.com/office/drawing/2014/main" id="{067A86AC-A2D1-3F33-5857-9F69983F71BB}"/>
              </a:ext>
            </a:extLst>
          </p:cNvPr>
          <p:cNvGrpSpPr/>
          <p:nvPr/>
        </p:nvGrpSpPr>
        <p:grpSpPr>
          <a:xfrm>
            <a:off x="977741" y="1982349"/>
            <a:ext cx="508158" cy="543805"/>
            <a:chOff x="0" y="0"/>
            <a:chExt cx="812800" cy="869819"/>
          </a:xfrm>
        </p:grpSpPr>
        <p:sp>
          <p:nvSpPr>
            <p:cNvPr id="14" name="Freeform 14">
              <a:extLst>
                <a:ext uri="{FF2B5EF4-FFF2-40B4-BE49-F238E27FC236}">
                  <a16:creationId xmlns:a16="http://schemas.microsoft.com/office/drawing/2014/main" id="{D9EADC3C-D136-0700-9300-4D8E867EC53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5" name="TextBox 15">
              <a:extLst>
                <a:ext uri="{FF2B5EF4-FFF2-40B4-BE49-F238E27FC236}">
                  <a16:creationId xmlns:a16="http://schemas.microsoft.com/office/drawing/2014/main" id="{A8EAD5F3-3FC4-819A-6ECD-0BC55C92A2B3}"/>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6" name="Group 16">
            <a:extLst>
              <a:ext uri="{FF2B5EF4-FFF2-40B4-BE49-F238E27FC236}">
                <a16:creationId xmlns:a16="http://schemas.microsoft.com/office/drawing/2014/main" id="{1671F77B-B3A5-F8B6-AC67-6EF88CA95877}"/>
              </a:ext>
            </a:extLst>
          </p:cNvPr>
          <p:cNvGrpSpPr/>
          <p:nvPr/>
        </p:nvGrpSpPr>
        <p:grpSpPr>
          <a:xfrm>
            <a:off x="977741" y="3983373"/>
            <a:ext cx="508158" cy="543805"/>
            <a:chOff x="0" y="0"/>
            <a:chExt cx="812800" cy="869819"/>
          </a:xfrm>
        </p:grpSpPr>
        <p:sp>
          <p:nvSpPr>
            <p:cNvPr id="17" name="Freeform 17">
              <a:extLst>
                <a:ext uri="{FF2B5EF4-FFF2-40B4-BE49-F238E27FC236}">
                  <a16:creationId xmlns:a16="http://schemas.microsoft.com/office/drawing/2014/main" id="{1303025A-EF3E-710E-2DBD-D89F29B8499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8" name="TextBox 18">
              <a:extLst>
                <a:ext uri="{FF2B5EF4-FFF2-40B4-BE49-F238E27FC236}">
                  <a16:creationId xmlns:a16="http://schemas.microsoft.com/office/drawing/2014/main" id="{76E7D281-CC96-92C2-C2F7-583674F0609D}"/>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9" name="Group 19">
            <a:extLst>
              <a:ext uri="{FF2B5EF4-FFF2-40B4-BE49-F238E27FC236}">
                <a16:creationId xmlns:a16="http://schemas.microsoft.com/office/drawing/2014/main" id="{E0D02FED-C5F4-9CC7-F1F5-E75E542840A9}"/>
              </a:ext>
            </a:extLst>
          </p:cNvPr>
          <p:cNvGrpSpPr/>
          <p:nvPr/>
        </p:nvGrpSpPr>
        <p:grpSpPr>
          <a:xfrm>
            <a:off x="977741" y="2648112"/>
            <a:ext cx="508158" cy="543805"/>
            <a:chOff x="0" y="0"/>
            <a:chExt cx="812800" cy="869819"/>
          </a:xfrm>
        </p:grpSpPr>
        <p:sp>
          <p:nvSpPr>
            <p:cNvPr id="20" name="Freeform 20">
              <a:extLst>
                <a:ext uri="{FF2B5EF4-FFF2-40B4-BE49-F238E27FC236}">
                  <a16:creationId xmlns:a16="http://schemas.microsoft.com/office/drawing/2014/main" id="{384D1E33-434F-2FA0-56CC-F24058D8639C}"/>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1" name="TextBox 21">
              <a:extLst>
                <a:ext uri="{FF2B5EF4-FFF2-40B4-BE49-F238E27FC236}">
                  <a16:creationId xmlns:a16="http://schemas.microsoft.com/office/drawing/2014/main" id="{F2FC0DCA-FB2A-610C-A8DB-76CE251A57D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2" name="Group 22">
            <a:extLst>
              <a:ext uri="{FF2B5EF4-FFF2-40B4-BE49-F238E27FC236}">
                <a16:creationId xmlns:a16="http://schemas.microsoft.com/office/drawing/2014/main" id="{4CA1DB61-05A2-042F-9815-00DBC40D0556}"/>
              </a:ext>
            </a:extLst>
          </p:cNvPr>
          <p:cNvGrpSpPr/>
          <p:nvPr/>
        </p:nvGrpSpPr>
        <p:grpSpPr>
          <a:xfrm>
            <a:off x="977741" y="5318634"/>
            <a:ext cx="508158" cy="543805"/>
            <a:chOff x="0" y="0"/>
            <a:chExt cx="812800" cy="869819"/>
          </a:xfrm>
        </p:grpSpPr>
        <p:sp>
          <p:nvSpPr>
            <p:cNvPr id="23" name="Freeform 23">
              <a:extLst>
                <a:ext uri="{FF2B5EF4-FFF2-40B4-BE49-F238E27FC236}">
                  <a16:creationId xmlns:a16="http://schemas.microsoft.com/office/drawing/2014/main" id="{67E4E958-360B-28EF-052B-EDDBDD5F40F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4" name="TextBox 24">
              <a:extLst>
                <a:ext uri="{FF2B5EF4-FFF2-40B4-BE49-F238E27FC236}">
                  <a16:creationId xmlns:a16="http://schemas.microsoft.com/office/drawing/2014/main" id="{BEDBF5CC-2720-E821-001C-11BCB7273E26}"/>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5" name="Group 25">
            <a:extLst>
              <a:ext uri="{FF2B5EF4-FFF2-40B4-BE49-F238E27FC236}">
                <a16:creationId xmlns:a16="http://schemas.microsoft.com/office/drawing/2014/main" id="{6B96629A-6996-B0D7-13D6-0FA011422666}"/>
              </a:ext>
            </a:extLst>
          </p:cNvPr>
          <p:cNvGrpSpPr/>
          <p:nvPr/>
        </p:nvGrpSpPr>
        <p:grpSpPr>
          <a:xfrm>
            <a:off x="977741" y="4651003"/>
            <a:ext cx="508158" cy="543805"/>
            <a:chOff x="0" y="0"/>
            <a:chExt cx="812800" cy="869819"/>
          </a:xfrm>
        </p:grpSpPr>
        <p:sp>
          <p:nvSpPr>
            <p:cNvPr id="26" name="Freeform 26">
              <a:extLst>
                <a:ext uri="{FF2B5EF4-FFF2-40B4-BE49-F238E27FC236}">
                  <a16:creationId xmlns:a16="http://schemas.microsoft.com/office/drawing/2014/main" id="{912F1ED8-E3AD-E90A-10CE-D50A8F7D91A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7" name="TextBox 27">
              <a:extLst>
                <a:ext uri="{FF2B5EF4-FFF2-40B4-BE49-F238E27FC236}">
                  <a16:creationId xmlns:a16="http://schemas.microsoft.com/office/drawing/2014/main" id="{00E45F23-6E8F-F601-2EB3-537A898E7044}"/>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8" name="Group 28">
            <a:extLst>
              <a:ext uri="{FF2B5EF4-FFF2-40B4-BE49-F238E27FC236}">
                <a16:creationId xmlns:a16="http://schemas.microsoft.com/office/drawing/2014/main" id="{A40D6715-3580-0B1B-2305-C7ED6083AE85}"/>
              </a:ext>
            </a:extLst>
          </p:cNvPr>
          <p:cNvGrpSpPr/>
          <p:nvPr/>
        </p:nvGrpSpPr>
        <p:grpSpPr>
          <a:xfrm>
            <a:off x="977741" y="5986264"/>
            <a:ext cx="508158" cy="543805"/>
            <a:chOff x="0" y="0"/>
            <a:chExt cx="812800" cy="869819"/>
          </a:xfrm>
        </p:grpSpPr>
        <p:sp>
          <p:nvSpPr>
            <p:cNvPr id="29" name="Freeform 29">
              <a:extLst>
                <a:ext uri="{FF2B5EF4-FFF2-40B4-BE49-F238E27FC236}">
                  <a16:creationId xmlns:a16="http://schemas.microsoft.com/office/drawing/2014/main" id="{11A59530-4B7F-6C6B-290E-578EA30200D0}"/>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0" name="TextBox 30">
              <a:extLst>
                <a:ext uri="{FF2B5EF4-FFF2-40B4-BE49-F238E27FC236}">
                  <a16:creationId xmlns:a16="http://schemas.microsoft.com/office/drawing/2014/main" id="{9BDCE736-251A-5B70-853E-A0A9A174F361}"/>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31" name="Group 31">
            <a:extLst>
              <a:ext uri="{FF2B5EF4-FFF2-40B4-BE49-F238E27FC236}">
                <a16:creationId xmlns:a16="http://schemas.microsoft.com/office/drawing/2014/main" id="{8249BDCF-E07B-269B-D039-A4360C0FE2B4}"/>
              </a:ext>
            </a:extLst>
          </p:cNvPr>
          <p:cNvGrpSpPr/>
          <p:nvPr/>
        </p:nvGrpSpPr>
        <p:grpSpPr>
          <a:xfrm>
            <a:off x="977741" y="7760846"/>
            <a:ext cx="508158" cy="543805"/>
            <a:chOff x="0" y="0"/>
            <a:chExt cx="812800" cy="869819"/>
          </a:xfrm>
        </p:grpSpPr>
        <p:sp>
          <p:nvSpPr>
            <p:cNvPr id="32" name="Freeform 32">
              <a:extLst>
                <a:ext uri="{FF2B5EF4-FFF2-40B4-BE49-F238E27FC236}">
                  <a16:creationId xmlns:a16="http://schemas.microsoft.com/office/drawing/2014/main" id="{6F6B04FD-3FAC-90A2-4C1A-D809D058C0A9}"/>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3" name="TextBox 33">
              <a:extLst>
                <a:ext uri="{FF2B5EF4-FFF2-40B4-BE49-F238E27FC236}">
                  <a16:creationId xmlns:a16="http://schemas.microsoft.com/office/drawing/2014/main" id="{BEE5C092-697C-26F6-D6E0-477F151E7CAE}"/>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9</a:t>
              </a:r>
            </a:p>
          </p:txBody>
        </p:sp>
      </p:grpSp>
      <p:sp>
        <p:nvSpPr>
          <p:cNvPr id="34" name="Freeform 34">
            <a:extLst>
              <a:ext uri="{FF2B5EF4-FFF2-40B4-BE49-F238E27FC236}">
                <a16:creationId xmlns:a16="http://schemas.microsoft.com/office/drawing/2014/main" id="{FF80FEAE-01A3-1956-FB30-BED14CA86273}"/>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grpSp>
        <p:nvGrpSpPr>
          <p:cNvPr id="35" name="Group 35">
            <a:extLst>
              <a:ext uri="{FF2B5EF4-FFF2-40B4-BE49-F238E27FC236}">
                <a16:creationId xmlns:a16="http://schemas.microsoft.com/office/drawing/2014/main" id="{2E8D2AB5-8B00-D9B4-469D-07CAE4ECF9C8}"/>
              </a:ext>
            </a:extLst>
          </p:cNvPr>
          <p:cNvGrpSpPr/>
          <p:nvPr/>
        </p:nvGrpSpPr>
        <p:grpSpPr>
          <a:xfrm>
            <a:off x="17170670" y="-178579"/>
            <a:ext cx="10994424" cy="10994424"/>
            <a:chOff x="0" y="0"/>
            <a:chExt cx="812800" cy="812800"/>
          </a:xfrm>
        </p:grpSpPr>
        <p:sp>
          <p:nvSpPr>
            <p:cNvPr id="36" name="Freeform 36">
              <a:extLst>
                <a:ext uri="{FF2B5EF4-FFF2-40B4-BE49-F238E27FC236}">
                  <a16:creationId xmlns:a16="http://schemas.microsoft.com/office/drawing/2014/main" id="{F9F17E25-114F-438B-701A-7788D333F33D}"/>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514350" cap="sq">
              <a:solidFill>
                <a:srgbClr val="FD6220">
                  <a:alpha val="11765"/>
                </a:srgbClr>
              </a:solidFill>
              <a:prstDash val="solid"/>
              <a:miter/>
            </a:ln>
          </p:spPr>
        </p:sp>
        <p:sp>
          <p:nvSpPr>
            <p:cNvPr id="37" name="TextBox 37">
              <a:extLst>
                <a:ext uri="{FF2B5EF4-FFF2-40B4-BE49-F238E27FC236}">
                  <a16:creationId xmlns:a16="http://schemas.microsoft.com/office/drawing/2014/main" id="{1C4B6667-B2EE-BA32-402F-04368D88D5C4}"/>
                </a:ext>
              </a:extLst>
            </p:cNvPr>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
        <p:nvSpPr>
          <p:cNvPr id="43" name="TextBox 42">
            <a:extLst>
              <a:ext uri="{FF2B5EF4-FFF2-40B4-BE49-F238E27FC236}">
                <a16:creationId xmlns:a16="http://schemas.microsoft.com/office/drawing/2014/main" id="{9B953180-DB27-F046-86E3-E3508247B406}"/>
              </a:ext>
            </a:extLst>
          </p:cNvPr>
          <p:cNvSpPr txBox="1"/>
          <p:nvPr/>
        </p:nvSpPr>
        <p:spPr>
          <a:xfrm>
            <a:off x="152400" y="342900"/>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IMPLEMENTATION SCREENSHOTS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4" name="TextBox 43">
            <a:extLst>
              <a:ext uri="{FF2B5EF4-FFF2-40B4-BE49-F238E27FC236}">
                <a16:creationId xmlns:a16="http://schemas.microsoft.com/office/drawing/2014/main" id="{341A1FDE-E3AB-682A-64B7-DA145F23EB91}"/>
              </a:ext>
            </a:extLst>
          </p:cNvPr>
          <p:cNvSpPr txBox="1"/>
          <p:nvPr/>
        </p:nvSpPr>
        <p:spPr>
          <a:xfrm>
            <a:off x="2209800" y="1638300"/>
            <a:ext cx="15082325" cy="5262979"/>
          </a:xfrm>
          <a:prstGeom prst="rect">
            <a:avLst/>
          </a:prstGeom>
          <a:noFill/>
        </p:spPr>
        <p:txBody>
          <a:bodyPr wrap="square" rtlCol="0">
            <a:spAutoFit/>
          </a:bodyPr>
          <a:lstStyle/>
          <a:p>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US" sz="2800" dirty="0"/>
          </a:p>
          <a:p>
            <a:pPr marL="457200" indent="-457200">
              <a:buFontTx/>
              <a:buChar char="-"/>
            </a:pPr>
            <a:endParaRPr lang="en-IN" sz="2800" dirty="0"/>
          </a:p>
        </p:txBody>
      </p:sp>
      <p:pic>
        <p:nvPicPr>
          <p:cNvPr id="3" name="Picture 2">
            <a:extLst>
              <a:ext uri="{FF2B5EF4-FFF2-40B4-BE49-F238E27FC236}">
                <a16:creationId xmlns:a16="http://schemas.microsoft.com/office/drawing/2014/main" id="{16B29AF3-3891-0B11-9A9F-53B814142E69}"/>
              </a:ext>
            </a:extLst>
          </p:cNvPr>
          <p:cNvPicPr>
            <a:picLocks noChangeAspect="1"/>
          </p:cNvPicPr>
          <p:nvPr/>
        </p:nvPicPr>
        <p:blipFill>
          <a:blip r:embed="rId3">
            <a:extLst>
              <a:ext uri="{28A0092B-C50C-407E-A947-70E740481C1C}">
                <a14:useLocalDpi xmlns:a14="http://schemas.microsoft.com/office/drawing/2010/main" val="0"/>
              </a:ext>
            </a:extLst>
          </a:blip>
          <a:srcRect t="4526" r="833" b="10000"/>
          <a:stretch>
            <a:fillRect/>
          </a:stretch>
        </p:blipFill>
        <p:spPr>
          <a:xfrm>
            <a:off x="2162160" y="1469193"/>
            <a:ext cx="15082326" cy="7312357"/>
          </a:xfrm>
          <a:prstGeom prst="rect">
            <a:avLst/>
          </a:prstGeom>
          <a:ln>
            <a:solidFill>
              <a:schemeClr val="tx1"/>
            </a:solidFill>
          </a:ln>
        </p:spPr>
      </p:pic>
      <p:sp>
        <p:nvSpPr>
          <p:cNvPr id="5" name="TextBox 4">
            <a:extLst>
              <a:ext uri="{FF2B5EF4-FFF2-40B4-BE49-F238E27FC236}">
                <a16:creationId xmlns:a16="http://schemas.microsoft.com/office/drawing/2014/main" id="{BACF03E9-D655-0F71-EB52-129B2924E57F}"/>
              </a:ext>
            </a:extLst>
          </p:cNvPr>
          <p:cNvSpPr txBox="1"/>
          <p:nvPr/>
        </p:nvSpPr>
        <p:spPr>
          <a:xfrm>
            <a:off x="5638800" y="8864650"/>
            <a:ext cx="14935200" cy="369332"/>
          </a:xfrm>
          <a:prstGeom prst="rect">
            <a:avLst/>
          </a:prstGeom>
          <a:noFill/>
        </p:spPr>
        <p:txBody>
          <a:bodyPr wrap="square">
            <a:spAutoFit/>
          </a:bodyPr>
          <a:lstStyle/>
          <a:p>
            <a:r>
              <a:rPr lang="en-US" b="1" dirty="0">
                <a:latin typeface="Times New Roman" panose="02020603050405020304" pitchFamily="18" charset="0"/>
                <a:cs typeface="Times New Roman" panose="02020603050405020304" pitchFamily="18" charset="0"/>
              </a:rPr>
              <a:t>Student Bookings: Displays list of students who booked tickets for events </a:t>
            </a:r>
          </a:p>
        </p:txBody>
      </p:sp>
    </p:spTree>
    <p:extLst>
      <p:ext uri="{BB962C8B-B14F-4D97-AF65-F5344CB8AC3E}">
        <p14:creationId xmlns:p14="http://schemas.microsoft.com/office/powerpoint/2010/main" val="848899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a:extLst>
            <a:ext uri="{FF2B5EF4-FFF2-40B4-BE49-F238E27FC236}">
              <a16:creationId xmlns:a16="http://schemas.microsoft.com/office/drawing/2014/main" id="{93EBAB55-7601-3C41-6F10-EE0F67F7766F}"/>
            </a:ext>
          </a:extLst>
        </p:cNvPr>
        <p:cNvGrpSpPr/>
        <p:nvPr/>
      </p:nvGrpSpPr>
      <p:grpSpPr>
        <a:xfrm>
          <a:off x="0" y="0"/>
          <a:ext cx="0" cy="0"/>
          <a:chOff x="0" y="0"/>
          <a:chExt cx="0" cy="0"/>
        </a:xfrm>
      </p:grpSpPr>
      <p:grpSp>
        <p:nvGrpSpPr>
          <p:cNvPr id="5" name="Group 5">
            <a:extLst>
              <a:ext uri="{FF2B5EF4-FFF2-40B4-BE49-F238E27FC236}">
                <a16:creationId xmlns:a16="http://schemas.microsoft.com/office/drawing/2014/main" id="{B9E2C662-B058-485B-BFC3-199F93F6D154}"/>
              </a:ext>
            </a:extLst>
          </p:cNvPr>
          <p:cNvGrpSpPr/>
          <p:nvPr/>
        </p:nvGrpSpPr>
        <p:grpSpPr>
          <a:xfrm>
            <a:off x="735588" y="7321525"/>
            <a:ext cx="992463" cy="992463"/>
            <a:chOff x="0" y="0"/>
            <a:chExt cx="812800" cy="812800"/>
          </a:xfrm>
        </p:grpSpPr>
        <p:sp>
          <p:nvSpPr>
            <p:cNvPr id="6" name="Freeform 6">
              <a:extLst>
                <a:ext uri="{FF2B5EF4-FFF2-40B4-BE49-F238E27FC236}">
                  <a16:creationId xmlns:a16="http://schemas.microsoft.com/office/drawing/2014/main" id="{F125CA7A-BCD4-5B7F-7069-AE7F5BD10A9F}"/>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D6220"/>
            </a:solidFill>
          </p:spPr>
        </p:sp>
        <p:sp>
          <p:nvSpPr>
            <p:cNvPr id="7" name="TextBox 7">
              <a:extLst>
                <a:ext uri="{FF2B5EF4-FFF2-40B4-BE49-F238E27FC236}">
                  <a16:creationId xmlns:a16="http://schemas.microsoft.com/office/drawing/2014/main" id="{07E08158-57E2-530C-A7FD-5AF72088CFEA}"/>
                </a:ext>
              </a:extLst>
            </p:cNvPr>
            <p:cNvSpPr txBox="1"/>
            <p:nvPr/>
          </p:nvSpPr>
          <p:spPr>
            <a:xfrm>
              <a:off x="76200" y="19050"/>
              <a:ext cx="660400" cy="717550"/>
            </a:xfrm>
            <a:prstGeom prst="rect">
              <a:avLst/>
            </a:prstGeom>
          </p:spPr>
          <p:txBody>
            <a:bodyPr lIns="50800" tIns="50800" rIns="50800" bIns="50800" rtlCol="0" anchor="ctr"/>
            <a:lstStyle/>
            <a:p>
              <a:pPr algn="ctr">
                <a:lnSpc>
                  <a:spcPts val="3779"/>
                </a:lnSpc>
                <a:spcBef>
                  <a:spcPct val="0"/>
                </a:spcBef>
              </a:pPr>
              <a:r>
                <a:rPr lang="en-US" sz="2699">
                  <a:solidFill>
                    <a:srgbClr val="FFFEFE"/>
                  </a:solidFill>
                  <a:latin typeface="Gotham"/>
                  <a:ea typeface="Gotham"/>
                  <a:cs typeface="Gotham"/>
                  <a:sym typeface="Gotham"/>
                </a:rPr>
                <a:t>9</a:t>
              </a:r>
            </a:p>
          </p:txBody>
        </p:sp>
      </p:grpSp>
      <p:grpSp>
        <p:nvGrpSpPr>
          <p:cNvPr id="8" name="Group 8">
            <a:extLst>
              <a:ext uri="{FF2B5EF4-FFF2-40B4-BE49-F238E27FC236}">
                <a16:creationId xmlns:a16="http://schemas.microsoft.com/office/drawing/2014/main" id="{CB09EB64-B1EE-DA7A-E7DC-97163FE53167}"/>
              </a:ext>
            </a:extLst>
          </p:cNvPr>
          <p:cNvGrpSpPr/>
          <p:nvPr/>
        </p:nvGrpSpPr>
        <p:grpSpPr>
          <a:xfrm>
            <a:off x="977741" y="3315742"/>
            <a:ext cx="508158" cy="543805"/>
            <a:chOff x="0" y="0"/>
            <a:chExt cx="812800" cy="869819"/>
          </a:xfrm>
        </p:grpSpPr>
        <p:sp>
          <p:nvSpPr>
            <p:cNvPr id="9" name="Freeform 9">
              <a:extLst>
                <a:ext uri="{FF2B5EF4-FFF2-40B4-BE49-F238E27FC236}">
                  <a16:creationId xmlns:a16="http://schemas.microsoft.com/office/drawing/2014/main" id="{4B04A57D-53E9-134E-70C7-51485932A21F}"/>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0" name="TextBox 10">
              <a:extLst>
                <a:ext uri="{FF2B5EF4-FFF2-40B4-BE49-F238E27FC236}">
                  <a16:creationId xmlns:a16="http://schemas.microsoft.com/office/drawing/2014/main" id="{AC0A25AD-0459-BAEA-2E7B-0D9279AE1BC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3</a:t>
              </a:r>
            </a:p>
          </p:txBody>
        </p:sp>
      </p:grpSp>
      <p:grpSp>
        <p:nvGrpSpPr>
          <p:cNvPr id="11" name="Group 11">
            <a:extLst>
              <a:ext uri="{FF2B5EF4-FFF2-40B4-BE49-F238E27FC236}">
                <a16:creationId xmlns:a16="http://schemas.microsoft.com/office/drawing/2014/main" id="{E0EBC171-BEE8-2D5E-8755-EE50B2570259}"/>
              </a:ext>
            </a:extLst>
          </p:cNvPr>
          <p:cNvGrpSpPr/>
          <p:nvPr/>
        </p:nvGrpSpPr>
        <p:grpSpPr>
          <a:xfrm>
            <a:off x="977741" y="1982349"/>
            <a:ext cx="508158" cy="543805"/>
            <a:chOff x="0" y="0"/>
            <a:chExt cx="812800" cy="869819"/>
          </a:xfrm>
        </p:grpSpPr>
        <p:sp>
          <p:nvSpPr>
            <p:cNvPr id="12" name="Freeform 12">
              <a:extLst>
                <a:ext uri="{FF2B5EF4-FFF2-40B4-BE49-F238E27FC236}">
                  <a16:creationId xmlns:a16="http://schemas.microsoft.com/office/drawing/2014/main" id="{E4000A93-AB8F-B573-E218-7434988FD581}"/>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3" name="TextBox 13">
              <a:extLst>
                <a:ext uri="{FF2B5EF4-FFF2-40B4-BE49-F238E27FC236}">
                  <a16:creationId xmlns:a16="http://schemas.microsoft.com/office/drawing/2014/main" id="{1228826C-BC2E-0DA0-107F-341F9D1A494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1</a:t>
              </a:r>
            </a:p>
          </p:txBody>
        </p:sp>
      </p:grpSp>
      <p:grpSp>
        <p:nvGrpSpPr>
          <p:cNvPr id="14" name="Group 14">
            <a:extLst>
              <a:ext uri="{FF2B5EF4-FFF2-40B4-BE49-F238E27FC236}">
                <a16:creationId xmlns:a16="http://schemas.microsoft.com/office/drawing/2014/main" id="{7FD594E4-E181-FD3B-1C72-DE2D718C274A}"/>
              </a:ext>
            </a:extLst>
          </p:cNvPr>
          <p:cNvGrpSpPr/>
          <p:nvPr/>
        </p:nvGrpSpPr>
        <p:grpSpPr>
          <a:xfrm>
            <a:off x="977741" y="3983373"/>
            <a:ext cx="508158" cy="543805"/>
            <a:chOff x="0" y="0"/>
            <a:chExt cx="812800" cy="869819"/>
          </a:xfrm>
        </p:grpSpPr>
        <p:sp>
          <p:nvSpPr>
            <p:cNvPr id="15" name="Freeform 15">
              <a:extLst>
                <a:ext uri="{FF2B5EF4-FFF2-40B4-BE49-F238E27FC236}">
                  <a16:creationId xmlns:a16="http://schemas.microsoft.com/office/drawing/2014/main" id="{C16DA90C-521A-EFE9-8EE9-CB3967A50953}"/>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6" name="TextBox 16">
              <a:extLst>
                <a:ext uri="{FF2B5EF4-FFF2-40B4-BE49-F238E27FC236}">
                  <a16:creationId xmlns:a16="http://schemas.microsoft.com/office/drawing/2014/main" id="{5A678428-7466-DB88-0126-41232DE4A0D2}"/>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4</a:t>
              </a:r>
            </a:p>
          </p:txBody>
        </p:sp>
      </p:grpSp>
      <p:grpSp>
        <p:nvGrpSpPr>
          <p:cNvPr id="17" name="Group 17">
            <a:extLst>
              <a:ext uri="{FF2B5EF4-FFF2-40B4-BE49-F238E27FC236}">
                <a16:creationId xmlns:a16="http://schemas.microsoft.com/office/drawing/2014/main" id="{91D279A8-BDAA-B12E-DD4B-9978E9D5005C}"/>
              </a:ext>
            </a:extLst>
          </p:cNvPr>
          <p:cNvGrpSpPr/>
          <p:nvPr/>
        </p:nvGrpSpPr>
        <p:grpSpPr>
          <a:xfrm>
            <a:off x="977741" y="2648112"/>
            <a:ext cx="508158" cy="543805"/>
            <a:chOff x="0" y="0"/>
            <a:chExt cx="812800" cy="869819"/>
          </a:xfrm>
        </p:grpSpPr>
        <p:sp>
          <p:nvSpPr>
            <p:cNvPr id="18" name="Freeform 18">
              <a:extLst>
                <a:ext uri="{FF2B5EF4-FFF2-40B4-BE49-F238E27FC236}">
                  <a16:creationId xmlns:a16="http://schemas.microsoft.com/office/drawing/2014/main" id="{308F1BB3-7F58-DE0C-71F1-9782E0906192}"/>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19" name="TextBox 19">
              <a:extLst>
                <a:ext uri="{FF2B5EF4-FFF2-40B4-BE49-F238E27FC236}">
                  <a16:creationId xmlns:a16="http://schemas.microsoft.com/office/drawing/2014/main" id="{35F43F9B-B904-0414-7AA7-1E7959C4C9E9}"/>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2</a:t>
              </a:r>
            </a:p>
          </p:txBody>
        </p:sp>
      </p:grpSp>
      <p:grpSp>
        <p:nvGrpSpPr>
          <p:cNvPr id="20" name="Group 20">
            <a:extLst>
              <a:ext uri="{FF2B5EF4-FFF2-40B4-BE49-F238E27FC236}">
                <a16:creationId xmlns:a16="http://schemas.microsoft.com/office/drawing/2014/main" id="{311E9EBB-A9CE-A64F-FF44-F82C0D52AC32}"/>
              </a:ext>
            </a:extLst>
          </p:cNvPr>
          <p:cNvGrpSpPr/>
          <p:nvPr/>
        </p:nvGrpSpPr>
        <p:grpSpPr>
          <a:xfrm>
            <a:off x="977741" y="5318634"/>
            <a:ext cx="508158" cy="543805"/>
            <a:chOff x="0" y="0"/>
            <a:chExt cx="812800" cy="869819"/>
          </a:xfrm>
        </p:grpSpPr>
        <p:sp>
          <p:nvSpPr>
            <p:cNvPr id="21" name="Freeform 21">
              <a:extLst>
                <a:ext uri="{FF2B5EF4-FFF2-40B4-BE49-F238E27FC236}">
                  <a16:creationId xmlns:a16="http://schemas.microsoft.com/office/drawing/2014/main" id="{DED3A9EA-E50F-553B-EDAA-87F95FD22807}"/>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2" name="TextBox 22">
              <a:extLst>
                <a:ext uri="{FF2B5EF4-FFF2-40B4-BE49-F238E27FC236}">
                  <a16:creationId xmlns:a16="http://schemas.microsoft.com/office/drawing/2014/main" id="{7E9C7CEA-D993-4107-0776-54AC90E20625}"/>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6</a:t>
              </a:r>
            </a:p>
          </p:txBody>
        </p:sp>
      </p:grpSp>
      <p:grpSp>
        <p:nvGrpSpPr>
          <p:cNvPr id="23" name="Group 23">
            <a:extLst>
              <a:ext uri="{FF2B5EF4-FFF2-40B4-BE49-F238E27FC236}">
                <a16:creationId xmlns:a16="http://schemas.microsoft.com/office/drawing/2014/main" id="{7B397A27-1CC9-9661-DA24-10B3E1042399}"/>
              </a:ext>
            </a:extLst>
          </p:cNvPr>
          <p:cNvGrpSpPr/>
          <p:nvPr/>
        </p:nvGrpSpPr>
        <p:grpSpPr>
          <a:xfrm>
            <a:off x="977741" y="4651003"/>
            <a:ext cx="508158" cy="543805"/>
            <a:chOff x="0" y="0"/>
            <a:chExt cx="812800" cy="869819"/>
          </a:xfrm>
        </p:grpSpPr>
        <p:sp>
          <p:nvSpPr>
            <p:cNvPr id="24" name="Freeform 24">
              <a:extLst>
                <a:ext uri="{FF2B5EF4-FFF2-40B4-BE49-F238E27FC236}">
                  <a16:creationId xmlns:a16="http://schemas.microsoft.com/office/drawing/2014/main" id="{2A8CD899-9C63-11A3-805F-4CA0E12C7CB8}"/>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5" name="TextBox 25">
              <a:extLst>
                <a:ext uri="{FF2B5EF4-FFF2-40B4-BE49-F238E27FC236}">
                  <a16:creationId xmlns:a16="http://schemas.microsoft.com/office/drawing/2014/main" id="{1976C224-9A36-532E-5E8B-B738C9FBC3FF}"/>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5</a:t>
              </a:r>
            </a:p>
          </p:txBody>
        </p:sp>
      </p:grpSp>
      <p:grpSp>
        <p:nvGrpSpPr>
          <p:cNvPr id="26" name="Group 26">
            <a:extLst>
              <a:ext uri="{FF2B5EF4-FFF2-40B4-BE49-F238E27FC236}">
                <a16:creationId xmlns:a16="http://schemas.microsoft.com/office/drawing/2014/main" id="{E8CFE39F-6666-6E69-8980-5B55F6D56478}"/>
              </a:ext>
            </a:extLst>
          </p:cNvPr>
          <p:cNvGrpSpPr/>
          <p:nvPr/>
        </p:nvGrpSpPr>
        <p:grpSpPr>
          <a:xfrm>
            <a:off x="977741" y="5986264"/>
            <a:ext cx="508158" cy="543805"/>
            <a:chOff x="0" y="0"/>
            <a:chExt cx="812800" cy="869819"/>
          </a:xfrm>
        </p:grpSpPr>
        <p:sp>
          <p:nvSpPr>
            <p:cNvPr id="27" name="Freeform 27">
              <a:extLst>
                <a:ext uri="{FF2B5EF4-FFF2-40B4-BE49-F238E27FC236}">
                  <a16:creationId xmlns:a16="http://schemas.microsoft.com/office/drawing/2014/main" id="{F859737D-AFDF-BDFC-6651-3B954F2DD46E}"/>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28" name="TextBox 28">
              <a:extLst>
                <a:ext uri="{FF2B5EF4-FFF2-40B4-BE49-F238E27FC236}">
                  <a16:creationId xmlns:a16="http://schemas.microsoft.com/office/drawing/2014/main" id="{B7B59B44-AD68-1549-9F86-A09D82459B58}"/>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7</a:t>
              </a:r>
            </a:p>
          </p:txBody>
        </p:sp>
      </p:grpSp>
      <p:grpSp>
        <p:nvGrpSpPr>
          <p:cNvPr id="29" name="Group 29">
            <a:extLst>
              <a:ext uri="{FF2B5EF4-FFF2-40B4-BE49-F238E27FC236}">
                <a16:creationId xmlns:a16="http://schemas.microsoft.com/office/drawing/2014/main" id="{3FACABC2-D51C-1EF5-0D1B-34B410283F2E}"/>
              </a:ext>
            </a:extLst>
          </p:cNvPr>
          <p:cNvGrpSpPr/>
          <p:nvPr/>
        </p:nvGrpSpPr>
        <p:grpSpPr>
          <a:xfrm>
            <a:off x="977741" y="6653894"/>
            <a:ext cx="508158" cy="543805"/>
            <a:chOff x="0" y="0"/>
            <a:chExt cx="812800" cy="869819"/>
          </a:xfrm>
        </p:grpSpPr>
        <p:sp>
          <p:nvSpPr>
            <p:cNvPr id="30" name="Freeform 30">
              <a:extLst>
                <a:ext uri="{FF2B5EF4-FFF2-40B4-BE49-F238E27FC236}">
                  <a16:creationId xmlns:a16="http://schemas.microsoft.com/office/drawing/2014/main" id="{6DD43112-BD1E-86D9-D9C6-3C97559FC56A}"/>
                </a:ext>
              </a:extLst>
            </p:cNvPr>
            <p:cNvSpPr/>
            <p:nvPr/>
          </p:nvSpPr>
          <p:spPr>
            <a:xfrm>
              <a:off x="0" y="0"/>
              <a:ext cx="812800" cy="869819"/>
            </a:xfrm>
            <a:custGeom>
              <a:avLst/>
              <a:gdLst/>
              <a:ahLst/>
              <a:cxnLst/>
              <a:rect l="l" t="t" r="r" b="b"/>
              <a:pathLst>
                <a:path w="812800" h="869819">
                  <a:moveTo>
                    <a:pt x="406400" y="0"/>
                  </a:moveTo>
                  <a:cubicBezTo>
                    <a:pt x="181951" y="0"/>
                    <a:pt x="0" y="194716"/>
                    <a:pt x="0" y="434909"/>
                  </a:cubicBezTo>
                  <a:cubicBezTo>
                    <a:pt x="0" y="675103"/>
                    <a:pt x="181951" y="869819"/>
                    <a:pt x="406400" y="869819"/>
                  </a:cubicBezTo>
                  <a:cubicBezTo>
                    <a:pt x="630849" y="869819"/>
                    <a:pt x="812800" y="675103"/>
                    <a:pt x="812800" y="434909"/>
                  </a:cubicBezTo>
                  <a:cubicBezTo>
                    <a:pt x="812800" y="194716"/>
                    <a:pt x="630849" y="0"/>
                    <a:pt x="406400" y="0"/>
                  </a:cubicBezTo>
                  <a:close/>
                </a:path>
              </a:pathLst>
            </a:custGeom>
            <a:solidFill>
              <a:srgbClr val="FFFEFE"/>
            </a:solidFill>
            <a:ln w="9525" cap="sq">
              <a:solidFill>
                <a:srgbClr val="FD6220"/>
              </a:solidFill>
              <a:prstDash val="solid"/>
              <a:miter/>
            </a:ln>
          </p:spPr>
        </p:sp>
        <p:sp>
          <p:nvSpPr>
            <p:cNvPr id="31" name="TextBox 31">
              <a:extLst>
                <a:ext uri="{FF2B5EF4-FFF2-40B4-BE49-F238E27FC236}">
                  <a16:creationId xmlns:a16="http://schemas.microsoft.com/office/drawing/2014/main" id="{C34845E4-4A4B-0A81-5A55-140048165790}"/>
                </a:ext>
              </a:extLst>
            </p:cNvPr>
            <p:cNvSpPr txBox="1"/>
            <p:nvPr/>
          </p:nvSpPr>
          <p:spPr>
            <a:xfrm>
              <a:off x="76200" y="52970"/>
              <a:ext cx="660400" cy="735303"/>
            </a:xfrm>
            <a:prstGeom prst="rect">
              <a:avLst/>
            </a:prstGeom>
          </p:spPr>
          <p:txBody>
            <a:bodyPr lIns="50800" tIns="50800" rIns="50800" bIns="50800" rtlCol="0" anchor="ctr"/>
            <a:lstStyle/>
            <a:p>
              <a:pPr algn="ctr">
                <a:lnSpc>
                  <a:spcPts val="2380"/>
                </a:lnSpc>
                <a:spcBef>
                  <a:spcPct val="0"/>
                </a:spcBef>
              </a:pPr>
              <a:r>
                <a:rPr lang="en-US" sz="1700">
                  <a:solidFill>
                    <a:srgbClr val="191919"/>
                  </a:solidFill>
                  <a:latin typeface="Gotham"/>
                  <a:ea typeface="Gotham"/>
                  <a:cs typeface="Gotham"/>
                  <a:sym typeface="Gotham"/>
                </a:rPr>
                <a:t>8</a:t>
              </a:r>
            </a:p>
          </p:txBody>
        </p:sp>
      </p:grpSp>
      <p:sp>
        <p:nvSpPr>
          <p:cNvPr id="32" name="Freeform 32">
            <a:extLst>
              <a:ext uri="{FF2B5EF4-FFF2-40B4-BE49-F238E27FC236}">
                <a16:creationId xmlns:a16="http://schemas.microsoft.com/office/drawing/2014/main" id="{05CB8E9D-B497-44FF-DB18-7D166BD2DA61}"/>
              </a:ext>
            </a:extLst>
          </p:cNvPr>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6" name="TextBox 46">
            <a:extLst>
              <a:ext uri="{FF2B5EF4-FFF2-40B4-BE49-F238E27FC236}">
                <a16:creationId xmlns:a16="http://schemas.microsoft.com/office/drawing/2014/main" id="{FA405478-0BA8-4A85-A81A-B9346174FE61}"/>
              </a:ext>
            </a:extLst>
          </p:cNvPr>
          <p:cNvSpPr txBox="1"/>
          <p:nvPr/>
        </p:nvSpPr>
        <p:spPr>
          <a:xfrm>
            <a:off x="17817087" y="290493"/>
            <a:ext cx="8932970" cy="9319492"/>
          </a:xfrm>
          <a:prstGeom prst="rect">
            <a:avLst/>
          </a:prstGeom>
        </p:spPr>
        <p:txBody>
          <a:bodyPr lIns="50800" tIns="50800" rIns="50800" bIns="50800" rtlCol="0" anchor="ctr"/>
          <a:lstStyle/>
          <a:p>
            <a:pPr algn="ctr">
              <a:lnSpc>
                <a:spcPts val="2659"/>
              </a:lnSpc>
            </a:pPr>
            <a:endParaRPr/>
          </a:p>
        </p:txBody>
      </p:sp>
      <p:sp>
        <p:nvSpPr>
          <p:cNvPr id="2" name="TextBox 1">
            <a:extLst>
              <a:ext uri="{FF2B5EF4-FFF2-40B4-BE49-F238E27FC236}">
                <a16:creationId xmlns:a16="http://schemas.microsoft.com/office/drawing/2014/main" id="{BC926643-39EA-932E-6755-230476B3078D}"/>
              </a:ext>
            </a:extLst>
          </p:cNvPr>
          <p:cNvSpPr txBox="1"/>
          <p:nvPr/>
        </p:nvSpPr>
        <p:spPr>
          <a:xfrm>
            <a:off x="190500" y="290493"/>
            <a:ext cx="17907000" cy="830997"/>
          </a:xfrm>
          <a:prstGeom prst="rect">
            <a:avLst/>
          </a:prstGeom>
          <a:noFill/>
        </p:spPr>
        <p:txBody>
          <a:bodyPr wrap="square" rtlCol="0">
            <a:spAutoFit/>
          </a:bodyPr>
          <a:lstStyle/>
          <a:p>
            <a:pPr algn="ctr"/>
            <a:r>
              <a:rPr lang="en-US" sz="4800" b="1" dirty="0">
                <a:solidFill>
                  <a:srgbClr val="0033CC"/>
                </a:solidFill>
                <a:latin typeface="Times New Roman" panose="02020603050405020304" pitchFamily="18" charset="0"/>
                <a:cs typeface="Times New Roman" panose="02020603050405020304" pitchFamily="18" charset="0"/>
              </a:rPr>
              <a:t>ADVANTAGES &amp; LIMITATIONS</a:t>
            </a:r>
            <a:endParaRPr lang="en-IN" sz="4800" b="1" dirty="0">
              <a:solidFill>
                <a:srgbClr val="0033CC"/>
              </a:solidFill>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A85DA98C-EF64-4FC9-6D49-B83F896B1B65}"/>
              </a:ext>
            </a:extLst>
          </p:cNvPr>
          <p:cNvSpPr txBox="1"/>
          <p:nvPr/>
        </p:nvSpPr>
        <p:spPr>
          <a:xfrm>
            <a:off x="2480478" y="2117190"/>
            <a:ext cx="14051280" cy="6555641"/>
          </a:xfrm>
          <a:prstGeom prst="rect">
            <a:avLst/>
          </a:prstGeom>
          <a:noFill/>
        </p:spPr>
        <p:txBody>
          <a:bodyPr wrap="square">
            <a:spAutoFit/>
          </a:bodyPr>
          <a:lstStyle/>
          <a:p>
            <a:pPr marL="457200" indent="-457200">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Advantages:</a:t>
            </a:r>
          </a:p>
          <a:p>
            <a:endParaRPr lang="en-US" sz="2800"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a:p>
            <a:pPr marL="457200" indent="-457200">
              <a:buFont typeface="Wingdings" panose="05000000000000000000" pitchFamily="2" charset="2"/>
              <a:buChar char="q"/>
            </a:pPr>
            <a:r>
              <a:rPr lang="en-US" sz="2800" b="1" dirty="0">
                <a:latin typeface="Times New Roman" panose="02020603050405020304" pitchFamily="18" charset="0"/>
                <a:cs typeface="Times New Roman" panose="02020603050405020304" pitchFamily="18" charset="0"/>
              </a:rPr>
              <a:t>Limitations:</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No real payment gateway</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No database </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Single admin system</a:t>
            </a:r>
          </a:p>
          <a:p>
            <a:pPr marL="457200" indent="-457200">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No authentication security</a:t>
            </a:r>
            <a:endParaRPr lang="en-US" sz="2800" b="1" dirty="0">
              <a:latin typeface="Times New Roman" panose="02020603050405020304" pitchFamily="18" charset="0"/>
              <a:cs typeface="Times New Roman" panose="02020603050405020304" pitchFamily="18" charset="0"/>
            </a:endParaRPr>
          </a:p>
          <a:p>
            <a:pPr>
              <a:buNone/>
            </a:pPr>
            <a:endParaRPr lang="en-US" sz="2800" b="1" dirty="0">
              <a:latin typeface="Times New Roman" panose="02020603050405020304" pitchFamily="18" charset="0"/>
              <a:cs typeface="Times New Roman" panose="02020603050405020304" pitchFamily="18" charset="0"/>
            </a:endParaRPr>
          </a:p>
        </p:txBody>
      </p:sp>
      <p:sp>
        <p:nvSpPr>
          <p:cNvPr id="3" name="Rectangle 1">
            <a:extLst>
              <a:ext uri="{FF2B5EF4-FFF2-40B4-BE49-F238E27FC236}">
                <a16:creationId xmlns:a16="http://schemas.microsoft.com/office/drawing/2014/main" id="{2B245D77-6823-5EEC-FDC6-E2A6D9E2945C}"/>
              </a:ext>
            </a:extLst>
          </p:cNvPr>
          <p:cNvSpPr>
            <a:spLocks noChangeArrowheads="1"/>
          </p:cNvSpPr>
          <p:nvPr/>
        </p:nvSpPr>
        <p:spPr bwMode="auto">
          <a:xfrm>
            <a:off x="2480478" y="3048393"/>
            <a:ext cx="4035977" cy="224676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pPr marL="457200" lvl="0" indent="-4572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Easy ticket booking</a:t>
            </a:r>
            <a:endParaRPr lang="en-US" sz="2800" dirty="0">
              <a:latin typeface="Times New Roman" panose="02020603050405020304" pitchFamily="18" charset="0"/>
              <a:cs typeface="Times New Roman" panose="02020603050405020304" pitchFamily="18" charset="0"/>
            </a:endParaRPr>
          </a:p>
          <a:p>
            <a:pPr marL="457200" lvl="0" indent="-4572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Centralized system</a:t>
            </a:r>
          </a:p>
          <a:p>
            <a:pPr marL="457200" lvl="0" indent="-4572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Admin control</a:t>
            </a:r>
          </a:p>
          <a:p>
            <a:pPr marL="457200" lvl="0" indent="-4572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Real-time event display</a:t>
            </a:r>
          </a:p>
          <a:p>
            <a:pPr marL="457200" lvl="0" indent="-457200" eaLnBrk="0" fontAlgn="base" hangingPunct="0">
              <a:spcBef>
                <a:spcPct val="0"/>
              </a:spcBef>
              <a:spcAft>
                <a:spcPct val="0"/>
              </a:spcAft>
              <a:buFont typeface="Arial" panose="020B0604020202020204" pitchFamily="34" charset="0"/>
              <a:buChar char="•"/>
            </a:pPr>
            <a:r>
              <a:rPr lang="en-IN" sz="2800" dirty="0">
                <a:latin typeface="Times New Roman" panose="02020603050405020304" pitchFamily="18" charset="0"/>
                <a:cs typeface="Times New Roman" panose="02020603050405020304" pitchFamily="18" charset="0"/>
              </a:rPr>
              <a:t>Simple UI</a:t>
            </a:r>
            <a:endParaRPr kumimoji="0" lang="en-US" altLang="en-US" sz="28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389767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E"/>
        </a:solidFill>
        <a:effectLst/>
      </p:bgPr>
    </p:bg>
    <p:spTree>
      <p:nvGrpSpPr>
        <p:cNvPr id="1" name=""/>
        <p:cNvGrpSpPr/>
        <p:nvPr/>
      </p:nvGrpSpPr>
      <p:grpSpPr>
        <a:xfrm>
          <a:off x="0" y="0"/>
          <a:ext cx="0" cy="0"/>
          <a:chOff x="0" y="0"/>
          <a:chExt cx="0" cy="0"/>
        </a:xfrm>
      </p:grpSpPr>
      <p:sp>
        <p:nvSpPr>
          <p:cNvPr id="32" name="Freeform 32"/>
          <p:cNvSpPr/>
          <p:nvPr/>
        </p:nvSpPr>
        <p:spPr>
          <a:xfrm>
            <a:off x="16313420" y="1028700"/>
            <a:ext cx="945880" cy="236470"/>
          </a:xfrm>
          <a:custGeom>
            <a:avLst/>
            <a:gdLst/>
            <a:ahLst/>
            <a:cxnLst/>
            <a:rect l="l" t="t" r="r" b="b"/>
            <a:pathLst>
              <a:path w="945880" h="236470">
                <a:moveTo>
                  <a:pt x="0" y="0"/>
                </a:moveTo>
                <a:lnTo>
                  <a:pt x="945880" y="0"/>
                </a:lnTo>
                <a:lnTo>
                  <a:pt x="945880" y="236470"/>
                </a:lnTo>
                <a:lnTo>
                  <a:pt x="0" y="236470"/>
                </a:lnTo>
                <a:lnTo>
                  <a:pt x="0" y="0"/>
                </a:lnTo>
                <a:close/>
              </a:path>
            </a:pathLst>
          </a:custGeom>
          <a:blipFill>
            <a:blip>
              <a:extLst>
                <a:ext uri="{96DAC541-7B7A-43D3-8B79-37D633B846F1}">
                  <asvg:svgBlip xmlns:asvg="http://schemas.microsoft.com/office/drawing/2016/SVG/main" r:embed="rId2"/>
                </a:ext>
              </a:extLst>
            </a:blip>
            <a:stretch>
              <a:fillRect/>
            </a:stretch>
          </a:blipFill>
        </p:spPr>
      </p:sp>
      <p:sp>
        <p:nvSpPr>
          <p:cNvPr id="43" name="TextBox 43"/>
          <p:cNvSpPr txBox="1"/>
          <p:nvPr/>
        </p:nvSpPr>
        <p:spPr>
          <a:xfrm>
            <a:off x="3200400" y="4486172"/>
            <a:ext cx="11159653" cy="1314655"/>
          </a:xfrm>
          <a:prstGeom prst="rect">
            <a:avLst/>
          </a:prstGeom>
        </p:spPr>
        <p:txBody>
          <a:bodyPr wrap="square" lIns="0" tIns="0" rIns="0" bIns="0" rtlCol="0" anchor="t">
            <a:spAutoFit/>
          </a:bodyPr>
          <a:lstStyle/>
          <a:p>
            <a:pPr algn="ctr">
              <a:lnSpc>
                <a:spcPts val="10149"/>
              </a:lnSpc>
            </a:pPr>
            <a:r>
              <a:rPr lang="en-US" sz="11153" b="1" i="1" dirty="0">
                <a:solidFill>
                  <a:srgbClr val="191919"/>
                </a:solidFill>
                <a:latin typeface="Gotham Bold Italics"/>
                <a:ea typeface="Gotham Bold Italics"/>
                <a:cs typeface="Gotham Bold Italics"/>
                <a:sym typeface="Gotham Bold Italics"/>
              </a:rPr>
              <a:t>Thank you</a:t>
            </a:r>
          </a:p>
        </p:txBody>
      </p:sp>
      <p:grpSp>
        <p:nvGrpSpPr>
          <p:cNvPr id="44" name="Group 44"/>
          <p:cNvGrpSpPr/>
          <p:nvPr/>
        </p:nvGrpSpPr>
        <p:grpSpPr>
          <a:xfrm>
            <a:off x="16786360" y="-353712"/>
            <a:ext cx="10994424" cy="10994424"/>
            <a:chOff x="0" y="0"/>
            <a:chExt cx="812800" cy="812800"/>
          </a:xfrm>
        </p:grpSpPr>
        <p:sp>
          <p:nvSpPr>
            <p:cNvPr id="45" name="Freeform 4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ln w="619125" cap="sq">
              <a:solidFill>
                <a:srgbClr val="FD6220">
                  <a:alpha val="11765"/>
                </a:srgbClr>
              </a:solidFill>
              <a:prstDash val="solid"/>
              <a:miter/>
            </a:ln>
          </p:spPr>
        </p:sp>
        <p:sp>
          <p:nvSpPr>
            <p:cNvPr id="46" name="TextBox 46"/>
            <p:cNvSpPr txBox="1"/>
            <p:nvPr/>
          </p:nvSpPr>
          <p:spPr>
            <a:xfrm>
              <a:off x="76200" y="47625"/>
              <a:ext cx="660400" cy="688975"/>
            </a:xfrm>
            <a:prstGeom prst="rect">
              <a:avLst/>
            </a:prstGeom>
          </p:spPr>
          <p:txBody>
            <a:bodyPr lIns="50800" tIns="50800" rIns="50800" bIns="50800" rtlCol="0" anchor="ctr"/>
            <a:lstStyle/>
            <a:p>
              <a:pPr algn="ctr">
                <a:lnSpc>
                  <a:spcPts val="2659"/>
                </a:lnSpc>
              </a:pPr>
              <a:endParaRPr/>
            </a:p>
          </p:txBody>
        </p:sp>
      </p:gr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624</TotalTime>
  <Words>694</Words>
  <Application>Microsoft Office PowerPoint</Application>
  <PresentationFormat>Custom</PresentationFormat>
  <Paragraphs>321</Paragraphs>
  <Slides>15</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15</vt:i4>
      </vt:variant>
    </vt:vector>
  </HeadingPairs>
  <TitlesOfParts>
    <vt:vector size="23" baseType="lpstr">
      <vt:lpstr>Times New Roman</vt:lpstr>
      <vt:lpstr>Gotham Bold Italics</vt:lpstr>
      <vt:lpstr>Wingdings</vt:lpstr>
      <vt:lpstr>Calibri</vt:lpstr>
      <vt:lpstr>Cambria</vt:lpstr>
      <vt:lpstr>Arial</vt:lpstr>
      <vt:lpstr>Gotham</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White and Orange Simple Portfolio Presentation</dc:title>
  <dc:creator>H P</dc:creator>
  <cp:lastModifiedBy>Pravallika Sankepalle</cp:lastModifiedBy>
  <cp:revision>19</cp:revision>
  <dcterms:created xsi:type="dcterms:W3CDTF">2006-08-16T00:00:00Z</dcterms:created>
  <dcterms:modified xsi:type="dcterms:W3CDTF">2026-05-06T06:28:41Z</dcterms:modified>
  <dc:identifier>DAHCaYqJ9OU</dc:identifier>
</cp:coreProperties>
</file>